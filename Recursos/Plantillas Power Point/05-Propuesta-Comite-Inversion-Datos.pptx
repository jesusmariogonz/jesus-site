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Ahorro e ingreso incremental acumulado</c:v>
                </c:pt>
              </c:strCache>
            </c:strRef>
          </c:tx>
          <c:spPr>
            <a:solidFill>
              <a:srgbClr val="2E41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Mes 1</c:v>
                  </c:pt>
                  <c:pt idx="1">
                    <c:v>Mes 3</c:v>
                  </c:pt>
                  <c:pt idx="2">
                    <c:v>Mes 6</c:v>
                  </c:pt>
                  <c:pt idx="3">
                    <c:v>Mes 9</c:v>
                  </c:pt>
                  <c:pt idx="4">
                    <c:v>Mes 12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78</c:v>
                </c:pt>
                <c:pt idx="2">
                  <c:v>158</c:v>
                </c:pt>
                <c:pt idx="3">
                  <c:v>260</c:v>
                </c:pt>
                <c:pt idx="4">
                  <c:v>380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DE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E7C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36"/>
          </a:solidFill>
          <a:ln/>
        </p:spPr>
      </p:sp>
      <p:sp>
        <p:nvSpPr>
          <p:cNvPr id="3" name="Shape 1"/>
          <p:cNvSpPr/>
          <p:nvPr/>
        </p:nvSpPr>
        <p:spPr>
          <a:xfrm>
            <a:off x="7985455" y="-2011680"/>
            <a:ext cx="6583680" cy="6583680"/>
          </a:xfrm>
          <a:prstGeom prst="ellipse">
            <a:avLst/>
          </a:prstGeom>
          <a:solidFill>
            <a:srgbClr val="2E4150"/>
          </a:solidFill>
          <a:ln/>
        </p:spPr>
      </p:sp>
      <p:sp>
        <p:nvSpPr>
          <p:cNvPr id="4" name="Shape 2"/>
          <p:cNvSpPr/>
          <p:nvPr/>
        </p:nvSpPr>
        <p:spPr>
          <a:xfrm>
            <a:off x="9814255" y="3749040"/>
            <a:ext cx="4023360" cy="4023360"/>
          </a:xfrm>
          <a:prstGeom prst="ellipse">
            <a:avLst/>
          </a:prstGeom>
          <a:solidFill>
            <a:srgbClr val="B0611C"/>
          </a:solidFill>
          <a:ln/>
        </p:spPr>
      </p:sp>
      <p:pic>
        <p:nvPicPr>
          <p:cNvPr id="5" name="Image 0" descr="/home/claude/pptx_kit/icons/zap_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516636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417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C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EDITABLE · PROPUESTA AL COMITÉ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187452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de Analítica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Punto de Venta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6C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inversión para el comité de dirección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5806440"/>
            <a:ext cx="1463040" cy="0"/>
          </a:xfrm>
          <a:prstGeom prst="line">
            <a:avLst/>
          </a:prstGeom>
          <a:noFill/>
          <a:ln w="25400">
            <a:solidFill>
              <a:srgbClr val="B061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C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 tu empresa]   ·   Presentado por [Tu nombre]   ·   [Fecha]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Decidimos con información de hace tres semanas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9B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días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retraso promedio entre que ocurre un problema de venta y que alguien lo detecta con los reportes actuales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26480" y="1737360"/>
            <a:ext cx="0" cy="3291840"/>
          </a:xfrm>
          <a:prstGeom prst="line">
            <a:avLst/>
          </a:prstGeom>
          <a:noFill/>
          <a:ln w="12700">
            <a:solidFill>
              <a:srgbClr val="E2DE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82880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reportes de venta se arman a mano en hojas de cálculo, una vez por semana, y no cruzan inventario con ventas ni identifican anomalías automáticamente. Para cuando un problema aparece en el reporte, ya costó semanas de venta perdida.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NO ACTUAR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ya nos está costando el status quo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4203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DED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12264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6" name="Image 0" descr="/home/claude/pptx_kit/icons/alert_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1284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7157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PERDIDA POR QUIEBRE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96112" y="313639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$62K/mes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96112" y="3630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B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Estimado, sin detección temprana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38144" y="1874520"/>
            <a:ext cx="254203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DED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94176" y="2112264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12" name="Image 1" descr="/home/claude/pptx_kit/icons/clock_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21284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4176" y="27157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ARMADO MANUAL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694176" y="313639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h/mes</a:t>
            </a:r>
            <a:endParaRPr lang="en-US" sz="2500" dirty="0"/>
          </a:p>
        </p:txBody>
      </p:sp>
      <p:sp>
        <p:nvSpPr>
          <p:cNvPr id="15" name="Text 11"/>
          <p:cNvSpPr/>
          <p:nvPr/>
        </p:nvSpPr>
        <p:spPr>
          <a:xfrm>
            <a:off x="3694176" y="3630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B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equipo de analítica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36208" y="1874520"/>
            <a:ext cx="254203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DED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6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92240" y="2112264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18" name="Image 2" descr="/home/claude/pptx_kit/icons/target_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212848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27157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SIN DATO RECIENTE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492240" y="313639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2500" dirty="0"/>
          </a:p>
        </p:txBody>
      </p:sp>
      <p:sp>
        <p:nvSpPr>
          <p:cNvPr id="21" name="Text 16"/>
          <p:cNvSpPr/>
          <p:nvPr/>
        </p:nvSpPr>
        <p:spPr>
          <a:xfrm>
            <a:off x="6492240" y="3630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B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reuniones de comité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034272" y="1874520"/>
            <a:ext cx="254203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DED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6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90304" y="2112264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24" name="Image 3" descr="/home/claude/pptx_kit/icons/map_pin_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88" y="221284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90304" y="27157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SIN TABLERO DIARIO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9290304" y="313639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2500" dirty="0"/>
          </a:p>
        </p:txBody>
      </p:sp>
      <p:sp>
        <p:nvSpPr>
          <p:cNvPr id="27" name="Text 21"/>
          <p:cNvSpPr/>
          <p:nvPr/>
        </p:nvSpPr>
        <p:spPr>
          <a:xfrm>
            <a:off x="9290304" y="3630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B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tiene tablero en tiempo real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proponemos construir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5" name="Image 0" descr="/home/claude/pptx_kit/icons/database_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8836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74650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centralizado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61872" y="203911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esquema estrella que una ventas, inventario y clientes de las 10 tiendas en un solo lugar, actualizado todos los días.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9" name="Image 1" descr="/home/claude/pptx_kit/icons/bar_chart_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311810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298094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 de autoservicio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61872" y="327355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venta, mismas tiendas, rotación de inventario y detección de anomalías, disponibles para cada gerente sin pedirlos por correo.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13" name="Image 2" descr="/home/claude/pptx_kit/icons/zap_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35254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421538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61872" y="450799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el mismo día cuando una tienda se sale del comportamiento esperado, en vez de descubrirlo semanas después.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incluye el proyecto, en cuatro fases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42032" cy="2834640"/>
          </a:xfrm>
          <a:prstGeom prst="roundRect">
            <a:avLst>
              <a:gd name="adj" fmla="val 2158"/>
            </a:avLst>
          </a:prstGeom>
          <a:solidFill>
            <a:srgbClr val="F5F3EE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514600"/>
            <a:ext cx="213969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esquema estrella y pipeline de carga diaria desde el punto de venta.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38144" y="1783080"/>
            <a:ext cx="2542032" cy="2834640"/>
          </a:xfrm>
          <a:prstGeom prst="roundRect">
            <a:avLst>
              <a:gd name="adj" fmla="val 2158"/>
            </a:avLst>
          </a:prstGeom>
          <a:solidFill>
            <a:srgbClr val="F5F3EE"/>
          </a:solidFill>
          <a:ln/>
        </p:spPr>
      </p:sp>
      <p:sp>
        <p:nvSpPr>
          <p:cNvPr id="10" name="Shape 8"/>
          <p:cNvSpPr/>
          <p:nvPr/>
        </p:nvSpPr>
        <p:spPr>
          <a:xfrm>
            <a:off x="3639312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15384" y="194767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 base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39312" y="2514600"/>
            <a:ext cx="213969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Ventas, mismas tiendas, inventario y clientes — los cuatro tableros de uso diario.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6208" y="1783080"/>
            <a:ext cx="2542032" cy="2834640"/>
          </a:xfrm>
          <a:prstGeom prst="roundRect">
            <a:avLst>
              <a:gd name="adj" fmla="val 2158"/>
            </a:avLst>
          </a:prstGeom>
          <a:solidFill>
            <a:srgbClr val="F5F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37376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16" name="Text 14"/>
          <p:cNvSpPr/>
          <p:nvPr/>
        </p:nvSpPr>
        <p:spPr>
          <a:xfrm>
            <a:off x="6437376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13448" y="194767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37376" y="2514600"/>
            <a:ext cx="213969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anomalías por tienda con notificación automática al gerente regional.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34272" y="1783080"/>
            <a:ext cx="2542032" cy="2834640"/>
          </a:xfrm>
          <a:prstGeom prst="roundRect">
            <a:avLst>
              <a:gd name="adj" fmla="val 2158"/>
            </a:avLst>
          </a:prstGeom>
          <a:solidFill>
            <a:srgbClr val="F5F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11512" y="194767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35440" y="2514600"/>
            <a:ext cx="213969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con cada gerente de tienda y con el comité para adopción real, no solo entrega técnica.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Desglose del costo del proyecto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309360" cy="457200"/>
          </a:xfrm>
          <a:prstGeom prst="rect">
            <a:avLst/>
          </a:prstGeom>
          <a:solidFill>
            <a:srgbClr val="1B2A36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37360"/>
            <a:ext cx="6089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49440" y="1737360"/>
            <a:ext cx="2377440" cy="457200"/>
          </a:xfrm>
          <a:prstGeom prst="rect">
            <a:avLst/>
          </a:prstGeom>
          <a:solidFill>
            <a:srgbClr val="1B2A36"/>
          </a:solidFill>
          <a:ln/>
        </p:spPr>
      </p:sp>
      <p:sp>
        <p:nvSpPr>
          <p:cNvPr id="7" name="Text 5"/>
          <p:cNvSpPr/>
          <p:nvPr/>
        </p:nvSpPr>
        <p:spPr>
          <a:xfrm>
            <a:off x="7059168" y="17373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326880" y="1737360"/>
            <a:ext cx="2194560" cy="457200"/>
          </a:xfrm>
          <a:prstGeom prst="rect">
            <a:avLst/>
          </a:prstGeom>
          <a:solidFill>
            <a:srgbClr val="1B2A36"/>
          </a:solidFill>
          <a:ln/>
        </p:spPr>
      </p:sp>
      <p:sp>
        <p:nvSpPr>
          <p:cNvPr id="9" name="Text 7"/>
          <p:cNvSpPr/>
          <p:nvPr/>
        </p:nvSpPr>
        <p:spPr>
          <a:xfrm>
            <a:off x="9436608" y="173736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63093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94560"/>
            <a:ext cx="6089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y pipeline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2194560"/>
            <a:ext cx="23774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59168" y="2194560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$68,000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26880" y="2194560"/>
            <a:ext cx="2194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36608" y="2194560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único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724912"/>
            <a:ext cx="6309360" cy="530352"/>
          </a:xfrm>
          <a:prstGeom prst="rect">
            <a:avLst/>
          </a:prstGeom>
          <a:solidFill>
            <a:srgbClr val="F5F3EE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724912"/>
            <a:ext cx="6089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tableros (4)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2724912"/>
            <a:ext cx="2377440" cy="530352"/>
          </a:xfrm>
          <a:prstGeom prst="rect">
            <a:avLst/>
          </a:prstGeom>
          <a:solidFill>
            <a:srgbClr val="F5F3EE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2724912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$44,000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26880" y="2724912"/>
            <a:ext cx="2194560" cy="530352"/>
          </a:xfrm>
          <a:prstGeom prst="rect">
            <a:avLst/>
          </a:prstGeom>
          <a:solidFill>
            <a:srgbClr val="F5F3EE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36608" y="2724912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único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255264"/>
            <a:ext cx="63093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255264"/>
            <a:ext cx="6089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3255264"/>
            <a:ext cx="23774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9168" y="3255264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$26,000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326880" y="3255264"/>
            <a:ext cx="2194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36608" y="3255264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único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785616"/>
            <a:ext cx="6309360" cy="530352"/>
          </a:xfrm>
          <a:prstGeom prst="rect">
            <a:avLst/>
          </a:prstGeom>
          <a:solidFill>
            <a:srgbClr val="F5F3EE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3785616"/>
            <a:ext cx="6089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del equipo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49440" y="3785616"/>
            <a:ext cx="2377440" cy="530352"/>
          </a:xfrm>
          <a:prstGeom prst="rect">
            <a:avLst/>
          </a:prstGeom>
          <a:solidFill>
            <a:srgbClr val="F5F3EE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9168" y="3785616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326880" y="3785616"/>
            <a:ext cx="2194560" cy="530352"/>
          </a:xfrm>
          <a:prstGeom prst="rect">
            <a:avLst/>
          </a:prstGeom>
          <a:solidFill>
            <a:srgbClr val="F5F3EE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36608" y="3785616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único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4315968"/>
            <a:ext cx="63093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4315968"/>
            <a:ext cx="6089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Licenciamiento de plataforma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49440" y="4315968"/>
            <a:ext cx="23774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59168" y="4315968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$4,200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326880" y="4315968"/>
            <a:ext cx="2194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36608" y="4315968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Mensual, recurrente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4846320"/>
            <a:ext cx="6309360" cy="502920"/>
          </a:xfrm>
          <a:prstGeom prst="rect">
            <a:avLst/>
          </a:prstGeom>
          <a:solidFill>
            <a:srgbClr val="B0611C"/>
          </a:solidFill>
          <a:ln/>
        </p:spPr>
      </p:sp>
      <p:sp>
        <p:nvSpPr>
          <p:cNvPr id="41" name="Text 39"/>
          <p:cNvSpPr/>
          <p:nvPr/>
        </p:nvSpPr>
        <p:spPr>
          <a:xfrm>
            <a:off x="749808" y="4846320"/>
            <a:ext cx="6089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inicial total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949440" y="4846320"/>
            <a:ext cx="4572000" cy="502920"/>
          </a:xfrm>
          <a:prstGeom prst="rect">
            <a:avLst/>
          </a:prstGeom>
          <a:solidFill>
            <a:srgbClr val="B0611C"/>
          </a:solidFill>
          <a:ln/>
        </p:spPr>
      </p:sp>
      <p:sp>
        <p:nvSpPr>
          <p:cNvPr id="43" name="Text 41"/>
          <p:cNvSpPr/>
          <p:nvPr/>
        </p:nvSpPr>
        <p:spPr>
          <a:xfrm>
            <a:off x="7059168" y="4846320"/>
            <a:ext cx="4352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$150,000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ESPERADO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proyecto se paga solo en menos de 6 meses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B06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4.8x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estimado sobre la inversión inicial en los primeros 12 meses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23560" y="1691640"/>
            <a:ext cx="0" cy="1828800"/>
          </a:xfrm>
          <a:prstGeom prst="line">
            <a:avLst/>
          </a:prstGeom>
          <a:noFill/>
          <a:ln w="12700">
            <a:solidFill>
              <a:srgbClr val="E2DE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178308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 estimado, miles de $, basado en el piloto de rediseño de planograma y la reducción proyectada de quiebres de inventario.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3794760"/>
          <a:ext cx="1088136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aprobación al primer tablero en 8 semanas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42032" cy="2834640"/>
          </a:xfrm>
          <a:prstGeom prst="roundRect">
            <a:avLst>
              <a:gd name="adj" fmla="val 2158"/>
            </a:avLst>
          </a:prstGeom>
          <a:solidFill>
            <a:srgbClr val="F5F3EE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1-2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514600"/>
            <a:ext cx="213969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requerimientos y diseño del modelo de datos con el equipo de operaciones.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38144" y="1783080"/>
            <a:ext cx="2542032" cy="2834640"/>
          </a:xfrm>
          <a:prstGeom prst="roundRect">
            <a:avLst>
              <a:gd name="adj" fmla="val 2158"/>
            </a:avLst>
          </a:prstGeom>
          <a:solidFill>
            <a:srgbClr val="F5F3EE"/>
          </a:solidFill>
          <a:ln/>
        </p:spPr>
      </p:sp>
      <p:sp>
        <p:nvSpPr>
          <p:cNvPr id="10" name="Shape 8"/>
          <p:cNvSpPr/>
          <p:nvPr/>
        </p:nvSpPr>
        <p:spPr>
          <a:xfrm>
            <a:off x="3639312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15384" y="194767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3-5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39312" y="2514600"/>
            <a:ext cx="213969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del pipeline y de los primeros dos tableros: ventas y mismas tiendas.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6208" y="1783080"/>
            <a:ext cx="2542032" cy="2834640"/>
          </a:xfrm>
          <a:prstGeom prst="roundRect">
            <a:avLst>
              <a:gd name="adj" fmla="val 2158"/>
            </a:avLst>
          </a:prstGeom>
          <a:solidFill>
            <a:srgbClr val="F5F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37376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16" name="Text 14"/>
          <p:cNvSpPr/>
          <p:nvPr/>
        </p:nvSpPr>
        <p:spPr>
          <a:xfrm>
            <a:off x="6437376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13448" y="194767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6-7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37376" y="2514600"/>
            <a:ext cx="213969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 de inventario y clientes, más el sistema de alertas.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34272" y="1783080"/>
            <a:ext cx="2542032" cy="2834640"/>
          </a:xfrm>
          <a:prstGeom prst="roundRect">
            <a:avLst>
              <a:gd name="adj" fmla="val 2158"/>
            </a:avLst>
          </a:prstGeom>
          <a:solidFill>
            <a:srgbClr val="F5F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11512" y="194767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8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35440" y="2514600"/>
            <a:ext cx="213969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 gerentes de tienda y al comité; entrega formal del proyecto.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SOLICITUD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necesitamos de ustedes hoy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5" name="Image 0" descr="/home/claude/pptx_kit/icons/dollar_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8836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74650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del presupuesto de $150,000 más $4,200 mensuales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61872" y="203911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iniciar la fase 1 en la primera semana de agosto.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9" name="Image 1" descr="/home/claude/pptx_kit/icons/users_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311810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298094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patrocinador designado del comité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61872" y="327355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Alguien con autoridad para desbloquear decisiones de acceso a datos y priorización durante las 8 semanas del proyecto.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13" name="Image 2" descr="/home/claude/pptx_kit/icons/calendar_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35254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421538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hora semanal de seguimiento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61872" y="450799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revisión breve de avance con el comité, para ajustar prioridades si algo cambia en el camino.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04008" y="1920240"/>
            <a:ext cx="6583680" cy="6583680"/>
          </a:xfrm>
          <a:prstGeom prst="ellipse">
            <a:avLst/>
          </a:prstGeom>
          <a:solidFill>
            <a:srgbClr val="2E41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55368" y="3246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6C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 · [correo@tuempresa.com]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60807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C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del Pack de Presentaciones de Resultados · jesus-site-silk.vercel.app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Inversión en Datos</dc:title>
  <dc:subject>PptxGenJS Presentation</dc:subject>
  <dc:creator>Jesús González</dc:creator>
  <cp:lastModifiedBy>Jesús González</cp:lastModifiedBy>
  <cp:revision>1</cp:revision>
  <dcterms:created xsi:type="dcterms:W3CDTF">2026-08-01T04:23:59Z</dcterms:created>
  <dcterms:modified xsi:type="dcterms:W3CDTF">2026-08-01T04:23:59Z</dcterms:modified>
</cp:coreProperties>
</file>