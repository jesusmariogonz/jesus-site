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Antes</c:v>
                </c:pt>
              </c:strCache>
            </c:strRef>
          </c:tx>
          <c:spPr>
            <a:solidFill>
              <a:srgbClr val="2E41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Centro Histórico</c:v>
                  </c:pt>
                  <c:pt idx="1">
                    <c:v>Valle Real</c:v>
                  </c:pt>
                  <c:pt idx="2">
                    <c:v>Blvd. Fundadores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61.2</c:v>
                </c:pt>
                <c:pt idx="1">
                  <c:v>58.4</c:v>
                </c:pt>
                <c:pt idx="2">
                  <c:v>66.8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Después</c:v>
                </c:pt>
              </c:strCache>
            </c:strRef>
          </c:tx>
          <c:spPr>
            <a:solidFill>
              <a:srgbClr val="B061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Centro Histórico</c:v>
                  </c:pt>
                  <c:pt idx="1">
                    <c:v>Valle Real</c:v>
                  </c:pt>
                  <c:pt idx="2">
                    <c:v>Blvd. Fundadores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65.4</c:v>
                </c:pt>
                <c:pt idx="1">
                  <c:v>61.9</c:v>
                </c:pt>
                <c:pt idx="2">
                  <c:v>70.4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DED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E7C8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E7C86"/>
                    </a:solidFill>
                    <a:latin typeface="Arial"/>
                  </a:rPr>
                  <a:t>Venta de bebidas (miles 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E7C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E7C8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6"/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-2011680"/>
            <a:ext cx="6583680" cy="6583680"/>
          </a:xfrm>
          <a:prstGeom prst="ellipse">
            <a:avLst/>
          </a:prstGeom>
          <a:solidFill>
            <a:srgbClr val="2E4150"/>
          </a:solidFill>
          <a:ln/>
        </p:spPr>
      </p:sp>
      <p:sp>
        <p:nvSpPr>
          <p:cNvPr id="4" name="Shape 2"/>
          <p:cNvSpPr/>
          <p:nvPr/>
        </p:nvSpPr>
        <p:spPr>
          <a:xfrm>
            <a:off x="9814255" y="3749040"/>
            <a:ext cx="4023360" cy="4023360"/>
          </a:xfrm>
          <a:prstGeom prst="ellipse">
            <a:avLst/>
          </a:prstGeom>
          <a:solidFill>
            <a:srgbClr val="B0611C"/>
          </a:solidFill>
          <a:ln/>
        </p:spPr>
      </p:sp>
      <p:pic>
        <p:nvPicPr>
          <p:cNvPr id="5" name="Image 0" descr="/home/claude/pptx_kit/icons/layers_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516636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EDITABLE · RESULTADOS DE INICIATIVA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87452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Rediseño de Planograma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Bebidas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a 90 días del piloto y propuesta de escalamiento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806440"/>
            <a:ext cx="1463040" cy="0"/>
          </a:xfrm>
          <a:prstGeom prst="line">
            <a:avLst/>
          </a:prstGeom>
          <a:noFill/>
          <a:ln w="25400">
            <a:solidFill>
              <a:srgbClr val="B061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 tu empresa]   ·   Presentado por [Tu nombre]   ·   [Fecha]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motivó el proyecto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9B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$62,000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venta mensual estimada que se perdía por quiebres y mala exhibición en la categoría de bebidas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0" cy="3291840"/>
          </a:xfrm>
          <a:prstGeom prst="line">
            <a:avLst/>
          </a:prstGeom>
          <a:noFill/>
          <a:ln w="12700">
            <a:solidFill>
              <a:srgbClr val="E2D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82880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de canasta del trimestre anterior mostró que bebidas es la categoría con mayor lift junto a alimentos preparados y botanas, pero el planograma actual no reflejaba esa relación: los productos de mayor afinidad estaban en anaqueles separados.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hizo, en cuatro pasos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canasta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pares de categorías con mayor lift y soporte suficiente para justificar reacomodo físico.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38144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3639312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15384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planograma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39312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exhibición que agrupa bebidas junto a alimentos preparados y botanas en punto de pago y anaquel principal.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37376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13448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en 3 tiendas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37376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en tres tiendas representativas de distinto formato durante ocho semanas.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34272" y="1783080"/>
            <a:ext cx="2542032" cy="2834640"/>
          </a:xfrm>
          <a:prstGeom prst="roundRect">
            <a:avLst>
              <a:gd name="adj" fmla="val 2158"/>
            </a:avLst>
          </a:prstGeom>
          <a:solidFill>
            <a:srgbClr val="F5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5440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11512" y="194767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y ajuste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35440" y="2514600"/>
            <a:ext cx="21396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venta antes/después con las mismas tiendas, ajustando dos veces el acomodo según resultados parciales.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y después del piloto, mismas tres tiendas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937760" cy="457200"/>
          </a:xfrm>
          <a:prstGeom prst="rect">
            <a:avLst/>
          </a:prstGeom>
          <a:solidFill>
            <a:srgbClr val="1B2A3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3736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577840" y="1737360"/>
            <a:ext cx="1920240" cy="457200"/>
          </a:xfrm>
          <a:prstGeom prst="rect">
            <a:avLst/>
          </a:prstGeom>
          <a:solidFill>
            <a:srgbClr val="1B2A36"/>
          </a:solidFill>
          <a:ln/>
        </p:spPr>
      </p:sp>
      <p:sp>
        <p:nvSpPr>
          <p:cNvPr id="7" name="Text 5"/>
          <p:cNvSpPr/>
          <p:nvPr/>
        </p:nvSpPr>
        <p:spPr>
          <a:xfrm>
            <a:off x="5687568" y="17373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0" y="1737360"/>
            <a:ext cx="1920240" cy="457200"/>
          </a:xfrm>
          <a:prstGeom prst="rect">
            <a:avLst/>
          </a:prstGeom>
          <a:solidFill>
            <a:srgbClr val="1B2A36"/>
          </a:solidFill>
          <a:ln/>
        </p:spPr>
      </p:sp>
      <p:sp>
        <p:nvSpPr>
          <p:cNvPr id="9" name="Text 7"/>
          <p:cNvSpPr/>
          <p:nvPr/>
        </p:nvSpPr>
        <p:spPr>
          <a:xfrm>
            <a:off x="7607808" y="17373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418320" y="1737360"/>
            <a:ext cx="2103120" cy="457200"/>
          </a:xfrm>
          <a:prstGeom prst="rect">
            <a:avLst/>
          </a:prstGeom>
          <a:solidFill>
            <a:srgbClr val="1B2A36"/>
          </a:solidFill>
          <a:ln/>
        </p:spPr>
      </p:sp>
      <p:sp>
        <p:nvSpPr>
          <p:cNvPr id="11" name="Text 9"/>
          <p:cNvSpPr/>
          <p:nvPr/>
        </p:nvSpPr>
        <p:spPr>
          <a:xfrm>
            <a:off x="9528048" y="173736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194560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194560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de bebidas (mensual)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2194560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219456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$186,400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2194560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07808" y="219456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$197,700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18320" y="2194560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28048" y="219456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+6.1%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2761488"/>
            <a:ext cx="4937760" cy="566928"/>
          </a:xfrm>
          <a:prstGeom prst="rect">
            <a:avLst/>
          </a:prstGeom>
          <a:solidFill>
            <a:srgbClr val="F5F3EE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761488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de la categoría cruzada (alim. preparados)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2761488"/>
            <a:ext cx="1920240" cy="566928"/>
          </a:xfrm>
          <a:prstGeom prst="rect">
            <a:avLst/>
          </a:prstGeom>
          <a:solidFill>
            <a:srgbClr val="F5F3EE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87568" y="276148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$94,200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2761488"/>
            <a:ext cx="1920240" cy="566928"/>
          </a:xfrm>
          <a:prstGeom prst="rect">
            <a:avLst/>
          </a:prstGeom>
          <a:solidFill>
            <a:srgbClr val="F5F3EE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7808" y="276148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$101,000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18320" y="2761488"/>
            <a:ext cx="2103120" cy="566928"/>
          </a:xfrm>
          <a:prstGeom prst="rect">
            <a:avLst/>
          </a:prstGeom>
          <a:solidFill>
            <a:srgbClr val="F5F3EE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28048" y="2761488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+7.2%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328416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3328416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con 2+ categorías del planograma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77840" y="3328416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3328416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0" y="3328416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07808" y="3328416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418320" y="3328416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28048" y="3328416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pts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3895344"/>
            <a:ext cx="4937760" cy="566928"/>
          </a:xfrm>
          <a:prstGeom prst="rect">
            <a:avLst/>
          </a:prstGeom>
          <a:solidFill>
            <a:srgbClr val="F5F3EE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3895344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Quiebres de existencia reportados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577840" y="3895344"/>
            <a:ext cx="1920240" cy="566928"/>
          </a:xfrm>
          <a:prstGeom prst="rect">
            <a:avLst/>
          </a:prstGeom>
          <a:solidFill>
            <a:srgbClr val="F5F3EE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87568" y="389534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semana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98080" y="3895344"/>
            <a:ext cx="1920240" cy="566928"/>
          </a:xfrm>
          <a:prstGeom prst="rect">
            <a:avLst/>
          </a:prstGeom>
          <a:solidFill>
            <a:srgbClr val="F5F3EE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07808" y="3895344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semana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418320" y="3895344"/>
            <a:ext cx="2103120" cy="566928"/>
          </a:xfrm>
          <a:prstGeom prst="rect">
            <a:avLst/>
          </a:prstGeom>
          <a:solidFill>
            <a:srgbClr val="F5F3EE"/>
          </a:solidFill>
          <a:ln w="9525">
            <a:solidFill>
              <a:srgbClr val="E2DED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28048" y="389534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-57%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FINANCIERO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 mensual antes y después, por tienda piloto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LA VENTA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operativo del piloto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420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12264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6" name="Image 0" descr="/home/claude/pptx_kit/icons/check_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1284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QUIEBRES DE EXISTENCIA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96112" y="3136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-57%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96112" y="3630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reposiciones de emergencia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38144" y="1874520"/>
            <a:ext cx="25420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94176" y="2112264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12" name="Image 1" descr="/home/claude/pptx_kit/icons/clock_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21284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RESURTIDO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694176" y="3136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 min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3694176" y="3630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turno, en promedio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36208" y="1874520"/>
            <a:ext cx="25420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6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0" y="2112264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18" name="Image 2" descr="/home/claude/pptx_kit/icons/dollar_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212848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IMPLEMENTACIÓN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492240" y="3136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$8,400</a:t>
            </a:r>
            <a:endParaRPr lang="en-US" sz="2500" dirty="0"/>
          </a:p>
        </p:txBody>
      </p:sp>
      <p:sp>
        <p:nvSpPr>
          <p:cNvPr id="21" name="Text 16"/>
          <p:cNvSpPr/>
          <p:nvPr/>
        </p:nvSpPr>
        <p:spPr>
          <a:xfrm>
            <a:off x="6492240" y="3630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B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tienda, pago único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34272" y="1874520"/>
            <a:ext cx="2542032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2DED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36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90304" y="2112264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24" name="Image 3" descr="/home/claude/pptx_kit/icons/trending_up_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221284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90304" y="2715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ESTIMADO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9290304" y="313639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5.4x</a:t>
            </a:r>
            <a:endParaRPr lang="en-US" sz="2500" dirty="0"/>
          </a:p>
        </p:txBody>
      </p:sp>
      <p:sp>
        <p:nvSpPr>
          <p:cNvPr id="27" name="Text 21"/>
          <p:cNvSpPr/>
          <p:nvPr/>
        </p:nvSpPr>
        <p:spPr>
          <a:xfrm>
            <a:off x="9290304" y="36301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primeros 12 meses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aprendimos en el camino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5" name="Image 0" descr="/home/claude/pptx_kit/icons/zap_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8836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74650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lift por sí solo no bastaba para decidir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61872" y="203911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 con mayor lift tenía poco soporte real; el reacomodo que más impactó fue el de mayor número de tickets en común, no el de mayor lift.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9" name="Image 1" descr="/home/claude/pptx_kit/icons/repeat_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11810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98094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necesitaron dos ajustes, no uno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61872" y="327355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acomodo no consideró el flujo de circulación de la tienda; el segundo ajuste, dos semanas después, fue el que realmente elevó la venta.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F5F3EE"/>
          </a:solidFill>
          <a:ln/>
        </p:spPr>
      </p:sp>
      <p:pic>
        <p:nvPicPr>
          <p:cNvPr id="13" name="Image 2" descr="/home/claude/pptx_kit/icons/users_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35254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4215384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 tienda detectó problemas que los datos no mostraban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61872" y="4507992"/>
            <a:ext cx="9985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retroalimentación de los encargados de tienda identificó un cuello de botella físico que ningún reporte de venta iba a revelar.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6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sigue: escalar a toda la cadena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6432" cy="3108960"/>
          </a:xfrm>
          <a:prstGeom prst="roundRect">
            <a:avLst>
              <a:gd name="adj" fmla="val 1765"/>
            </a:avLst>
          </a:prstGeom>
          <a:solidFill>
            <a:srgbClr val="F5F3EE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30540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presupuesto de $8,400 por tienda para las 7 tiendas restantes.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2544" y="1783080"/>
            <a:ext cx="3456432" cy="3108960"/>
          </a:xfrm>
          <a:prstGeom prst="roundRect">
            <a:avLst>
              <a:gd name="adj" fmla="val 1765"/>
            </a:avLst>
          </a:prstGeom>
          <a:solidFill>
            <a:srgbClr val="F5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9784" y="19476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3712" y="2514600"/>
            <a:ext cx="30540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por oleadas de 2-3 tiendas cada dos semanas, incorporando la lección del segundo ajuste desde el inicio.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5008" y="1783080"/>
            <a:ext cx="3456432" cy="3108960"/>
          </a:xfrm>
          <a:prstGeom prst="roundRect">
            <a:avLst>
              <a:gd name="adj" fmla="val 1765"/>
            </a:avLst>
          </a:prstGeom>
          <a:solidFill>
            <a:srgbClr val="F5F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6176" y="1984248"/>
            <a:ext cx="420624" cy="420624"/>
          </a:xfrm>
          <a:prstGeom prst="ellipse">
            <a:avLst/>
          </a:prstGeom>
          <a:solidFill>
            <a:srgbClr val="B0611C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42248" y="19476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66176" y="2514600"/>
            <a:ext cx="30540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la comparación antes/después con el mismo método a los 60 días de cada oleada.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04008" y="1920240"/>
            <a:ext cx="6583680" cy="6583680"/>
          </a:xfrm>
          <a:prstGeom prst="ellipse">
            <a:avLst/>
          </a:prstGeom>
          <a:solidFill>
            <a:srgbClr val="2E41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55368" y="3246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· [correo@tuempresa.com]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CF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del Pack de Presentaciones de Resultados · jesus-site-silk.vercel.app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Resultados de Iniciativa</dc:title>
  <dc:subject>PptxGenJS Presentation</dc:subject>
  <dc:creator>Jesús González</dc:creator>
  <cp:lastModifiedBy>Jesús González</cp:lastModifiedBy>
  <cp:revision>1</cp:revision>
  <dcterms:created xsi:type="dcterms:W3CDTF">2026-08-01T04:18:24Z</dcterms:created>
  <dcterms:modified xsi:type="dcterms:W3CDTF">2026-08-01T04:18:24Z</dcterms:modified>
</cp:coreProperties>
</file>