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Hace 8 semanas</c:v>
                </c:pt>
              </c:strCache>
            </c:strRef>
          </c:tx>
          <c:spPr>
            <a:solidFill>
              <a:srgbClr val="2E4150"/>
            </a:solidFill>
            <a:ln w="38100" cap="flat">
              <a:solidFill>
                <a:srgbClr val="2E415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4150"/>
              </a:solidFill>
              <a:ln w="9525" cap="flat">
                <a:solidFill>
                  <a:srgbClr val="2E415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20h</c:v>
                  </c:pt>
                  <c:pt idx="1">
                    <c:v>21h</c:v>
                  </c:pt>
                  <c:pt idx="2">
                    <c:v>22h</c:v>
                  </c:pt>
                  <c:pt idx="3">
                    <c:v>23h</c:v>
                  </c:pt>
                  <c:pt idx="4">
                    <c:v>00h</c:v>
                  </c:pt>
                  <c:pt idx="5">
                    <c:v>01h</c:v>
                  </c:pt>
                  <c:pt idx="6">
                    <c:v>02h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42</c:v>
                </c:pt>
                <c:pt idx="1">
                  <c:v>45</c:v>
                </c:pt>
                <c:pt idx="2">
                  <c:v>41</c:v>
                </c:pt>
                <c:pt idx="3">
                  <c:v>33</c:v>
                </c:pt>
                <c:pt idx="4">
                  <c:v>28</c:v>
                </c:pt>
                <c:pt idx="5">
                  <c:v>19</c:v>
                </c:pt>
                <c:pt idx="6">
                  <c:v>12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Últimas 4 semanas</c:v>
                </c:pt>
              </c:strCache>
            </c:strRef>
          </c:tx>
          <c:spPr>
            <a:solidFill>
              <a:srgbClr val="B0611C"/>
            </a:solidFill>
            <a:ln w="38100" cap="flat">
              <a:solidFill>
                <a:srgbClr val="B0611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0611C"/>
              </a:solidFill>
              <a:ln w="9525" cap="flat">
                <a:solidFill>
                  <a:srgbClr val="B0611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20h</c:v>
                  </c:pt>
                  <c:pt idx="1">
                    <c:v>21h</c:v>
                  </c:pt>
                  <c:pt idx="2">
                    <c:v>22h</c:v>
                  </c:pt>
                  <c:pt idx="3">
                    <c:v>23h</c:v>
                  </c:pt>
                  <c:pt idx="4">
                    <c:v>00h</c:v>
                  </c:pt>
                  <c:pt idx="5">
                    <c:v>01h</c:v>
                  </c:pt>
                  <c:pt idx="6">
                    <c:v>02h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41</c:v>
                </c:pt>
                <c:pt idx="1">
                  <c:v>44</c:v>
                </c:pt>
                <c:pt idx="2">
                  <c:v>32</c:v>
                </c:pt>
                <c:pt idx="3">
                  <c:v>21</c:v>
                </c:pt>
                <c:pt idx="4">
                  <c:v>16</c:v>
                </c:pt>
                <c:pt idx="5">
                  <c:v>10</c:v>
                </c:pt>
                <c:pt idx="6">
                  <c:v>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7C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DED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E7C86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E7C86"/>
                    </a:solidFill>
                    <a:latin typeface="Arial"/>
                  </a:rPr>
                  <a:t>Tickets promedio por hora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7C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E7C86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36"/>
          </a:solidFill>
          <a:ln/>
        </p:spPr>
      </p:sp>
      <p:sp>
        <p:nvSpPr>
          <p:cNvPr id="3" name="Shape 1"/>
          <p:cNvSpPr/>
          <p:nvPr/>
        </p:nvSpPr>
        <p:spPr>
          <a:xfrm>
            <a:off x="7985455" y="-2011680"/>
            <a:ext cx="6583680" cy="6583680"/>
          </a:xfrm>
          <a:prstGeom prst="ellipse">
            <a:avLst/>
          </a:prstGeom>
          <a:solidFill>
            <a:srgbClr val="2E4150"/>
          </a:solidFill>
          <a:ln/>
        </p:spPr>
      </p:sp>
      <p:sp>
        <p:nvSpPr>
          <p:cNvPr id="4" name="Shape 2"/>
          <p:cNvSpPr/>
          <p:nvPr/>
        </p:nvSpPr>
        <p:spPr>
          <a:xfrm>
            <a:off x="9814255" y="3749040"/>
            <a:ext cx="4023360" cy="4023360"/>
          </a:xfrm>
          <a:prstGeom prst="ellipse">
            <a:avLst/>
          </a:prstGeom>
          <a:solidFill>
            <a:srgbClr val="B0611C"/>
          </a:solidFill>
          <a:ln/>
        </p:spPr>
      </p:sp>
      <p:pic>
        <p:nvPicPr>
          <p:cNvPr id="5" name="Image 0" descr="/home/claude/pptx_kit/icons/search_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4375" y="516636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417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C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 EDITABLE · HALLAZGOS DE ANÁLISIS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1874520"/>
            <a:ext cx="8778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cae la venta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el turno nocturno?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22960" y="37033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C6C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datos de punto de venta, junio–julio 2026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5806440"/>
            <a:ext cx="1463040" cy="0"/>
          </a:xfrm>
          <a:prstGeom prst="line">
            <a:avLst/>
          </a:prstGeom>
          <a:noFill/>
          <a:ln w="25400">
            <a:solidFill>
              <a:srgbClr val="B0611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943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C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[Nombre de tu empresa]   ·   Preparado por [Tu nombre]   ·   [Área o equipo]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06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PARTIDA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pregunta que originó este análisis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1371600"/>
          </a:xfrm>
          <a:prstGeom prst="roundRect">
            <a:avLst>
              <a:gd name="adj" fmla="val 4000"/>
            </a:avLst>
          </a:prstGeom>
          <a:solidFill>
            <a:srgbClr val="F5F3EE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87452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“La venta del turno nocturno cayó 8% en dos meses. ¿Es un problema de tráfico, de surtido, o de personal?”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planteada por la Dirección de Operaciones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3886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251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turno nocturno representa el 18% de la venta total. Una caída sostenida de 8% equivale a cerca de $95,000 mensuales, y el equipo necesita saber si vale la pena invertir en personal adicional o si el problema está en otro lado.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06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HIZO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Datos, periodo y método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F5F3EE"/>
          </a:solidFill>
          <a:ln/>
        </p:spPr>
      </p:sp>
      <p:pic>
        <p:nvPicPr>
          <p:cNvPr id="5" name="Image 0" descr="/home/claude/pptx_kit/icons/database_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92938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1872" y="1792224"/>
            <a:ext cx="9985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261872" y="2084832"/>
            <a:ext cx="9985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de punto de venta a nivel de línea de ticket, de las 10 tiendas de la cadena, con hora exacta de cada transacción.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F5F3EE"/>
          </a:solidFill>
          <a:ln/>
        </p:spPr>
      </p:sp>
      <p:pic>
        <p:nvPicPr>
          <p:cNvPr id="9" name="Image 1" descr="/home/claude/pptx_kit/icons/calendar_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316382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61872" y="3026664"/>
            <a:ext cx="9985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Periodo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261872" y="3319272"/>
            <a:ext cx="9985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 semanas: seis antes de la caída reportada y seis después, para poder comparar el mismo conjunto de tiendas en ambos periodos.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0080" y="4297680"/>
            <a:ext cx="457200" cy="457200"/>
          </a:xfrm>
          <a:prstGeom prst="ellipse">
            <a:avLst/>
          </a:prstGeom>
          <a:solidFill>
            <a:srgbClr val="F5F3EE"/>
          </a:solidFill>
          <a:ln/>
        </p:spPr>
      </p:sp>
      <p:pic>
        <p:nvPicPr>
          <p:cNvPr id="13" name="Image 2" descr="/home/claude/pptx_kit/icons/bar_chart_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4398264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61872" y="4261104"/>
            <a:ext cx="9985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261872" y="4553712"/>
            <a:ext cx="9985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de venta por hora, análisis de quiebres de inventario por turno, y cruce contra horarios de personal programado.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06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PRINCIPAL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es tráfico. Es quiebre de inventario.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B06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61%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caída de venta nocturna coincide con quiebre de existencia en bebidas y botanas después de las 10 pm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126480" y="1737360"/>
            <a:ext cx="0" cy="3291840"/>
          </a:xfrm>
          <a:prstGeom prst="line">
            <a:avLst/>
          </a:prstGeom>
          <a:noFill/>
          <a:ln w="12700">
            <a:solidFill>
              <a:srgbClr val="E2DE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82880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tráfico de clientes en el turno nocturno se mantuvo prácticamente igual (–1.2%). Lo que cambió fue la disponibilidad de producto: el resurtido de la tarde no está alcanzando a cubrir la demanda de la noche en cinco de las diez tiendas.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06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 por hora, antes y después de la caída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108813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06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NO explica la caída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56432" cy="3108960"/>
          </a:xfrm>
          <a:prstGeom prst="roundRect">
            <a:avLst>
              <a:gd name="adj" fmla="val 1765"/>
            </a:avLst>
          </a:prstGeom>
          <a:solidFill>
            <a:srgbClr val="F5F3EE"/>
          </a:solidFill>
          <a:ln/>
        </p:spPr>
      </p:sp>
      <p:sp>
        <p:nvSpPr>
          <p:cNvPr id="5" name="Text 3"/>
          <p:cNvSpPr/>
          <p:nvPr/>
        </p:nvSpPr>
        <p:spPr>
          <a:xfrm>
            <a:off x="877824" y="2002536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77824" y="2468880"/>
            <a:ext cx="298094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horas de personal programadas en el turno nocturno no cambiaron en el periodo analizado. No hay reducción de plantilla que lo explique.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52544" y="1783080"/>
            <a:ext cx="3456432" cy="3108960"/>
          </a:xfrm>
          <a:prstGeom prst="roundRect">
            <a:avLst>
              <a:gd name="adj" fmla="val 1765"/>
            </a:avLst>
          </a:prstGeom>
          <a:solidFill>
            <a:srgbClr val="F5F3EE"/>
          </a:solidFill>
          <a:ln/>
        </p:spPr>
      </p:sp>
      <p:sp>
        <p:nvSpPr>
          <p:cNvPr id="8" name="Text 6"/>
          <p:cNvSpPr/>
          <p:nvPr/>
        </p:nvSpPr>
        <p:spPr>
          <a:xfrm>
            <a:off x="4590288" y="2002536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90288" y="2468880"/>
            <a:ext cx="298094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hubo cambios de precio en las categorías más vendidas del turno nocturno durante el periodo estudiado.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65008" y="1783080"/>
            <a:ext cx="3456432" cy="3108960"/>
          </a:xfrm>
          <a:prstGeom prst="roundRect">
            <a:avLst>
              <a:gd name="adj" fmla="val 1765"/>
            </a:avLst>
          </a:prstGeom>
          <a:solidFill>
            <a:srgbClr val="F5F3EE"/>
          </a:solidFill>
          <a:ln/>
        </p:spPr>
      </p:sp>
      <p:sp>
        <p:nvSpPr>
          <p:cNvPr id="11" name="Text 9"/>
          <p:cNvSpPr/>
          <p:nvPr/>
        </p:nvSpPr>
        <p:spPr>
          <a:xfrm>
            <a:off x="8302752" y="2002536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02752" y="2468880"/>
            <a:ext cx="298094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identificó apertura de un competidor directo cerca de ninguna de las cinco tiendas afectadas en el periodo.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06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HONESTIDAD CON LOS DATOS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este análisis no puede concluir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F5F3EE"/>
          </a:solidFill>
          <a:ln/>
        </p:spPr>
      </p:sp>
      <p:pic>
        <p:nvPicPr>
          <p:cNvPr id="5" name="Image 0" descr="/home/claude/pptx_kit/icons/alert_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202082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1872" y="1883664"/>
            <a:ext cx="9985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aísla la causa del quiebre en sí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261872" y="2176272"/>
            <a:ext cx="9985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Sabemos que hay quiebre de inventario en la noche; no sabemos todavía si es por subestimar la demanda nocturna al planear el resurtido, o por un problema logístico de la tarde.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F5F3EE"/>
          </a:solidFill>
          <a:ln/>
        </p:spPr>
      </p:sp>
      <p:pic>
        <p:nvPicPr>
          <p:cNvPr id="9" name="Image 1" descr="/home/claude/pptx_kit/icons/alert_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330098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61872" y="3163824"/>
            <a:ext cx="9985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muestra de tiendas afectadas es de cinco, no diez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261872" y="3456432"/>
            <a:ext cx="9985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conclusiones sobre causa aplican con más fuerza a esas cinco tiendas; las otras cinco no muestran el mismo patrón y merecen revisión aparte.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06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proponemos hacer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56432" cy="3108960"/>
          </a:xfrm>
          <a:prstGeom prst="roundRect">
            <a:avLst>
              <a:gd name="adj" fmla="val 1765"/>
            </a:avLst>
          </a:prstGeom>
          <a:solidFill>
            <a:srgbClr val="F5F3EE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984248"/>
            <a:ext cx="420624" cy="420624"/>
          </a:xfrm>
          <a:prstGeom prst="ellipse">
            <a:avLst/>
          </a:prstGeom>
          <a:solidFill>
            <a:srgbClr val="B0611C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84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94767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el resurtido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2514600"/>
            <a:ext cx="3054096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el segundo resurtido del día a las 6 pm en las cinco tiendas afectadas, en vez de a las 4 pm.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52544" y="1783080"/>
            <a:ext cx="3456432" cy="3108960"/>
          </a:xfrm>
          <a:prstGeom prst="roundRect">
            <a:avLst>
              <a:gd name="adj" fmla="val 1765"/>
            </a:avLst>
          </a:prstGeom>
          <a:solidFill>
            <a:srgbClr val="F5F3EE"/>
          </a:solidFill>
          <a:ln/>
        </p:spPr>
      </p:sp>
      <p:sp>
        <p:nvSpPr>
          <p:cNvPr id="10" name="Shape 8"/>
          <p:cNvSpPr/>
          <p:nvPr/>
        </p:nvSpPr>
        <p:spPr>
          <a:xfrm>
            <a:off x="4553712" y="1984248"/>
            <a:ext cx="420624" cy="420624"/>
          </a:xfrm>
          <a:prstGeom prst="ellipse">
            <a:avLst/>
          </a:prstGeom>
          <a:solidFill>
            <a:srgbClr val="B0611C"/>
          </a:solidFill>
          <a:ln/>
        </p:spPr>
      </p:sp>
      <p:sp>
        <p:nvSpPr>
          <p:cNvPr id="11" name="Text 9"/>
          <p:cNvSpPr/>
          <p:nvPr/>
        </p:nvSpPr>
        <p:spPr>
          <a:xfrm>
            <a:off x="4553712" y="1984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9784" y="194767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de 3 semanas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53712" y="2514600"/>
            <a:ext cx="3054096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si el ajuste reduce el quiebre nocturno antes de aplicarlo a toda la cadena.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65008" y="1783080"/>
            <a:ext cx="3456432" cy="3108960"/>
          </a:xfrm>
          <a:prstGeom prst="roundRect">
            <a:avLst>
              <a:gd name="adj" fmla="val 1765"/>
            </a:avLst>
          </a:prstGeom>
          <a:solidFill>
            <a:srgbClr val="F5F3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66176" y="1984248"/>
            <a:ext cx="420624" cy="420624"/>
          </a:xfrm>
          <a:prstGeom prst="ellipse">
            <a:avLst/>
          </a:prstGeom>
          <a:solidFill>
            <a:srgbClr val="B0611C"/>
          </a:solidFill>
          <a:ln/>
        </p:spPr>
      </p:sp>
      <p:sp>
        <p:nvSpPr>
          <p:cNvPr id="16" name="Text 14"/>
          <p:cNvSpPr/>
          <p:nvPr/>
        </p:nvSpPr>
        <p:spPr>
          <a:xfrm>
            <a:off x="8266176" y="1984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42248" y="194767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el análisis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66176" y="2514600"/>
            <a:ext cx="3054096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Correr el mismo análisis de venta por hora al cierre del piloto, con el mismo método.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04008" y="1920240"/>
            <a:ext cx="6583680" cy="6583680"/>
          </a:xfrm>
          <a:prstGeom prst="ellipse">
            <a:avLst/>
          </a:prstGeom>
          <a:solidFill>
            <a:srgbClr val="2E415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33172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255368" y="32461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6C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comentarios · [correo@tuempresa.com]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0" y="60807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6C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 del Pack de Presentaciones de Resultados · jesus-site-silk.vercel.app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Hallazgos de un Análisis de Datos</dc:title>
  <dc:subject>PptxGenJS Presentation</dc:subject>
  <dc:creator>Jesús González</dc:creator>
  <cp:lastModifiedBy>Jesús González</cp:lastModifiedBy>
  <cp:revision>1</cp:revision>
  <dcterms:created xsi:type="dcterms:W3CDTF">2026-08-01T04:18:23Z</dcterms:created>
  <dcterms:modified xsi:type="dcterms:W3CDTF">2026-08-01T04:18:23Z</dcterms:modified>
</cp:coreProperties>
</file>