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Año actual</c:v>
                </c:pt>
              </c:strCache>
            </c:strRef>
          </c:tx>
          <c:spPr>
            <a:solidFill>
              <a:srgbClr val="B0611C"/>
            </a:solidFill>
            <a:ln w="38100" cap="flat">
              <a:solidFill>
                <a:srgbClr val="B0611C"/>
              </a:solidFill>
              <a:prstDash val="solid"/>
              <a:round/>
            </a:ln>
            <a:effectLst/>
          </c:spPr>
          <c:invertIfNegative val="0"/>
          <c:dLbls>
            <c:numFmt formatCode="#,##0" sourceLinked="0"/>
            <c:txPr>
              <a:bodyPr/>
              <a:lstStyle/>
              <a:p>
                <a:pPr>
                  <a:defRPr b="0" i="0" strike="noStrike" sz="1200" u="none">
                    <a:solidFill>
                      <a:srgbClr val="1B2A36"/>
                    </a:solidFill>
                    <a:latin typeface="Arial"/>
                  </a:defRPr>
                </a:pPr>
              </a:p>
            </c:txPr>
            <c:showLegendKey val="0"/>
            <c:showVal val="0"/>
            <c:showCatName val="0"/>
            <c:showSerName val="0"/>
            <c:showPercent val="0"/>
            <c:showBubbleSize val="0"/>
            <c:showLeaderLines val="0"/>
          </c:dLbls>
          <c:marker>
            <c:symbol val="circle"/>
            <c:size val="6"/>
            <c:spPr>
              <a:solidFill>
                <a:srgbClr val="B0611C"/>
              </a:solidFill>
              <a:ln w="9525" cap="flat">
                <a:solidFill>
                  <a:srgbClr val="B0611C"/>
                </a:solidFill>
                <a:prstDash val="solid"/>
                <a:round/>
              </a:ln>
              <a:effectLst/>
            </c:spPr>
          </c:marker>
          <c:cat>
            <c:multiLvlStrRef>
              <c:f>Sheet1!$A$2:$A$7</c:f>
              <c:multiLvlStrCache>
                <c:ptCount val="6"/>
                <c:lvl>
                  <c:pt idx="0">
                    <c:v>Feb</c:v>
                  </c:pt>
                  <c:pt idx="1">
                    <c:v>Mar</c:v>
                  </c:pt>
                  <c:pt idx="2">
                    <c:v>Abr</c:v>
                  </c:pt>
                  <c:pt idx="3">
                    <c:v>May</c:v>
                  </c:pt>
                  <c:pt idx="4">
                    <c:v>Jun</c:v>
                  </c:pt>
                  <c:pt idx="5">
                    <c:v>Jul</c:v>
                  </c:pt>
                </c:lvl>
              </c:multiLvlStrCache>
            </c:multiLvlStrRef>
          </c:cat>
          <c:val>
            <c:numRef>
              <c:f>Sheet1!$B$2:$B$7</c:f>
              <c:numCache>
                <c:formatCode>General</c:formatCode>
                <c:ptCount val="6"/>
                <c:pt idx="0">
                  <c:v>3.6</c:v>
                </c:pt>
                <c:pt idx="1">
                  <c:v>3.75</c:v>
                </c:pt>
                <c:pt idx="2">
                  <c:v>3.9</c:v>
                </c:pt>
                <c:pt idx="3">
                  <c:v>4.05</c:v>
                </c:pt>
                <c:pt idx="4">
                  <c:v>4.2</c:v>
                </c:pt>
                <c:pt idx="5">
                  <c:v>4.38</c:v>
                </c:pt>
              </c:numCache>
            </c:numRef>
          </c:val>
          <c:smooth val="0"/>
        </c:ser>
        <c:ser>
          <c:idx val="1"/>
          <c:order val="1"/>
          <c:tx>
            <c:strRef>
              <c:f>Sheet1!$C$1</c:f>
              <c:strCache>
                <c:ptCount val="1"/>
                <c:pt idx="0">
                  <c:v>Año anterior</c:v>
                </c:pt>
              </c:strCache>
            </c:strRef>
          </c:tx>
          <c:spPr>
            <a:solidFill>
              <a:srgbClr val="2E4150"/>
            </a:solidFill>
            <a:ln w="38100" cap="flat">
              <a:solidFill>
                <a:srgbClr val="2E4150"/>
              </a:solidFill>
              <a:prstDash val="solid"/>
              <a:round/>
            </a:ln>
            <a:effectLst/>
          </c:spPr>
          <c:invertIfNegative val="0"/>
          <c:dLbls>
            <c:numFmt formatCode="#,##0" sourceLinked="0"/>
            <c:txPr>
              <a:bodyPr/>
              <a:lstStyle/>
              <a:p>
                <a:pPr>
                  <a:defRPr b="0" i="0" strike="noStrike" sz="1200" u="none">
                    <a:solidFill>
                      <a:srgbClr val="1B2A36"/>
                    </a:solidFill>
                    <a:latin typeface="Arial"/>
                  </a:defRPr>
                </a:pPr>
              </a:p>
            </c:txPr>
            <c:showLegendKey val="0"/>
            <c:showVal val="0"/>
            <c:showCatName val="0"/>
            <c:showSerName val="0"/>
            <c:showPercent val="0"/>
            <c:showBubbleSize val="0"/>
            <c:showLeaderLines val="0"/>
          </c:dLbls>
          <c:marker>
            <c:symbol val="circle"/>
            <c:size val="6"/>
            <c:spPr>
              <a:solidFill>
                <a:srgbClr val="2E4150"/>
              </a:solidFill>
              <a:ln w="9525" cap="flat">
                <a:solidFill>
                  <a:srgbClr val="2E4150"/>
                </a:solidFill>
                <a:prstDash val="solid"/>
                <a:round/>
              </a:ln>
              <a:effectLst/>
            </c:spPr>
          </c:marker>
          <c:cat>
            <c:multiLvlStrRef>
              <c:f>Sheet1!$A$2:$A$7</c:f>
              <c:multiLvlStrCache>
                <c:ptCount val="6"/>
                <c:lvl>
                  <c:pt idx="0">
                    <c:v>Feb</c:v>
                  </c:pt>
                  <c:pt idx="1">
                    <c:v>Mar</c:v>
                  </c:pt>
                  <c:pt idx="2">
                    <c:v>Abr</c:v>
                  </c:pt>
                  <c:pt idx="3">
                    <c:v>May</c:v>
                  </c:pt>
                  <c:pt idx="4">
                    <c:v>Jun</c:v>
                  </c:pt>
                  <c:pt idx="5">
                    <c:v>Jul</c:v>
                  </c:pt>
                </c:lvl>
              </c:multiLvlStrCache>
            </c:multiLvlStrRef>
          </c:cat>
          <c:val>
            <c:numRef>
              <c:f>Sheet1!$C$2:$C$7</c:f>
              <c:numCache>
                <c:formatCode>General</c:formatCode>
                <c:ptCount val="6"/>
                <c:pt idx="0">
                  <c:v>3.3</c:v>
                </c:pt>
                <c:pt idx="1">
                  <c:v>3.42</c:v>
                </c:pt>
                <c:pt idx="2">
                  <c:v>3.5</c:v>
                </c:pt>
                <c:pt idx="3">
                  <c:v>3.6</c:v>
                </c:pt>
                <c:pt idx="4">
                  <c:v>3.9</c:v>
                </c:pt>
                <c:pt idx="5">
                  <c:v>4</c:v>
                </c:pt>
              </c:numCache>
            </c:numRef>
          </c:val>
          <c:smooth val="0"/>
        </c:ser>
        <c:dLbls>
          <c:numFmt formatCode="#,##0" sourceLinked="0"/>
          <c:txPr>
            <a:bodyPr/>
            <a:lstStyle/>
            <a:p>
              <a:pPr>
                <a:defRPr b="0" i="0" strike="noStrike" sz="1200" u="none">
                  <a:solidFill>
                    <a:srgbClr val="1B2A36"/>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7C8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DED5"/>
              </a:solidFill>
              <a:prstDash val="solid"/>
              <a:round/>
            </a:ln>
          </c:spPr>
        </c:majorGridlines>
        <c:title>
          <c:tx>
            <c:rich>
              <a:bodyPr/>
              <a:lstStyle/>
              <a:p>
                <a:pPr>
                  <a:defRPr sz="1100" b="0" i="0" u="none" strike="noStrike">
                    <a:solidFill>
                      <a:srgbClr val="6E7C86"/>
                    </a:solidFill>
                    <a:latin typeface="Arial"/>
                  </a:defRPr>
                </a:pPr>
                <a:r>
                  <a:rPr sz="1100" b="0" i="0" u="none" strike="noStrike">
                    <a:solidFill>
                      <a:srgbClr val="6E7C86"/>
                    </a:solidFill>
                    <a:latin typeface="Arial"/>
                  </a:rPr>
                  <a:t>Venta neta (millones)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C8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E7C86"/>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Venta neta (miles)</c:v>
                </c:pt>
              </c:strCache>
            </c:strRef>
          </c:tx>
          <c:spPr>
            <a:solidFill>
              <a:srgbClr val="B0611C"/>
            </a:solidFill>
            <a:effectLst/>
          </c:spPr>
          <c:invertIfNegative val="0"/>
          <c:dLbls>
            <c:numFmt formatCode="#,##0" sourceLinked="0"/>
            <c:txPr>
              <a:bodyPr/>
              <a:lstStyle/>
              <a:p>
                <a:pPr>
                  <a:defRPr b="0" i="0" strike="noStrike" sz="1050" u="none">
                    <a:solidFill>
                      <a:srgbClr val="1B2A36"/>
                    </a:solidFill>
                    <a:latin typeface="Arial"/>
                  </a:defRPr>
                </a:pPr>
              </a:p>
            </c:txPr>
            <c:showLegendKey val="0"/>
            <c:showVal val="1"/>
            <c:showCatName val="0"/>
            <c:showSerName val="0"/>
            <c:showPercent val="0"/>
            <c:showBubbleSize val="0"/>
            <c:showLeaderLines val="0"/>
          </c:dLbls>
          <c:cat>
            <c:multiLvlStrRef>
              <c:f>Sheet1!$A$2:$A$9</c:f>
              <c:multiLvlStrCache>
                <c:ptCount val="8"/>
                <c:lvl>
                  <c:pt idx="0">
                    <c:v>Blvd. Fundadores</c:v>
                  </c:pt>
                  <c:pt idx="1">
                    <c:v>Ramos Arizpe Ind.</c:v>
                  </c:pt>
                  <c:pt idx="2">
                    <c:v>Centro Histórico</c:v>
                  </c:pt>
                  <c:pt idx="3">
                    <c:v>Apodaca Parque</c:v>
                  </c:pt>
                  <c:pt idx="4">
                    <c:v>Cumbres Poniente</c:v>
                  </c:pt>
                  <c:pt idx="5">
                    <c:v>San Jerónimo</c:v>
                  </c:pt>
                  <c:pt idx="6">
                    <c:v>Nogalar</c:v>
                  </c:pt>
                  <c:pt idx="7">
                    <c:v>Santa Catarina Sur</c:v>
                  </c:pt>
                </c:lvl>
              </c:multiLvlStrCache>
            </c:multiLvlStrRef>
          </c:cat>
          <c:val>
            <c:numRef>
              <c:f>Sheet1!$B$2:$B$9</c:f>
              <c:numCache>
                <c:formatCode>General</c:formatCode>
                <c:ptCount val="8"/>
                <c:pt idx="0">
                  <c:v>592</c:v>
                </c:pt>
                <c:pt idx="1">
                  <c:v>571</c:v>
                </c:pt>
                <c:pt idx="2">
                  <c:v>512</c:v>
                </c:pt>
                <c:pt idx="3">
                  <c:v>498</c:v>
                </c:pt>
                <c:pt idx="4">
                  <c:v>470</c:v>
                </c:pt>
                <c:pt idx="5">
                  <c:v>392</c:v>
                </c:pt>
                <c:pt idx="6">
                  <c:v>340</c:v>
                </c:pt>
                <c:pt idx="7">
                  <c:v>298</c:v>
                </c:pt>
              </c:numCache>
            </c:numRef>
          </c:val>
        </c:ser>
        <c:dLbls>
          <c:numFmt formatCode="#,##0" sourceLinked="0"/>
          <c:txPr>
            <a:bodyPr/>
            <a:lstStyle/>
            <a:p>
              <a:pPr>
                <a:defRPr b="0" i="0" strike="noStrike" sz="1050" u="none">
                  <a:solidFill>
                    <a:srgbClr val="1B2A36"/>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B2A36"/>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2DED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50" b="0" i="0" u="none" strike="noStrike">
                <a:solidFill>
                  <a:srgbClr val="6E7C8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Participación</c:v>
                </c:pt>
              </c:strCache>
            </c:strRef>
          </c:tx>
          <c:spPr>
            <a:solidFill>
              <a:schemeClr val="accent1"/>
            </a:solidFill>
            <a:ln w="9525" cap="flat">
              <a:solidFill>
                <a:srgbClr val="F9F9F9"/>
              </a:solidFill>
              <a:prstDash val="solid"/>
              <a:round/>
            </a:ln>
            <a:effectLst/>
          </c:spPr>
          <c:dPt>
            <c:idx val="0"/>
            <c:bubble3D val="0"/>
            <c:spPr>
              <a:solidFill>
                <a:srgbClr val="B0611C"/>
              </a:solidFill>
              <a:effectLst/>
            </c:spPr>
          </c:dPt>
          <c:dPt>
            <c:idx val="1"/>
            <c:bubble3D val="0"/>
            <c:spPr>
              <a:solidFill>
                <a:srgbClr val="2E4150"/>
              </a:solidFill>
              <a:effectLst/>
            </c:spPr>
          </c:dPt>
          <c:dPt>
            <c:idx val="2"/>
            <c:bubble3D val="0"/>
            <c:spPr>
              <a:solidFill>
                <a:srgbClr val="8C9AA4"/>
              </a:solidFill>
              <a:effectLst/>
            </c:spPr>
          </c:dPt>
          <c:dPt>
            <c:idx val="3"/>
            <c:bubble3D val="0"/>
            <c:spPr>
              <a:solidFill>
                <a:srgbClr val="D9B48F"/>
              </a:solidFill>
              <a:effectLst/>
            </c:spPr>
          </c:dPt>
          <c:dPt>
            <c:idx val="4"/>
            <c:bubble3D val="0"/>
            <c:spPr>
              <a:solidFill>
                <a:srgbClr val="1B2A36"/>
              </a:solidFill>
              <a:effectLst/>
            </c:spPr>
          </c:dPt>
          <c:dPt>
            <c:idx val="5"/>
            <c:bubble3D val="0"/>
            <c:spPr>
              <a:solidFill>
                <a:srgbClr val="C6CFD5"/>
              </a:solidFill>
              <a:effectLst/>
            </c:spPr>
          </c:dPt>
          <c:dPt>
            <c:idx val="6"/>
            <c:bubble3D val="0"/>
            <c:spPr>
              <a:solidFill>
                <a:srgbClr val="E2DED5"/>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6"/>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Sheet1!$A$2:$A$8</c:f>
              <c:strCache>
                <c:ptCount val="7"/>
                <c:pt idx="0">
                  <c:v>Bebidas</c:v>
                </c:pt>
                <c:pt idx="1">
                  <c:v>Cerveza y Vinos</c:v>
                </c:pt>
                <c:pt idx="2">
                  <c:v>Botanas</c:v>
                </c:pt>
                <c:pt idx="3">
                  <c:v>Alimentos Preparados</c:v>
                </c:pt>
                <c:pt idx="4">
                  <c:v>Cigarros</c:v>
                </c:pt>
                <c:pt idx="5">
                  <c:v>Abarrotes</c:v>
                </c:pt>
                <c:pt idx="6">
                  <c:v>Otras</c:v>
                </c:pt>
              </c:strCache>
            </c:strRef>
          </c:cat>
          <c:val>
            <c:numRef>
              <c:f>Sheet1!$B$2:$B$8</c:f>
              <c:numCache>
                <c:ptCount val="7"/>
                <c:pt idx="0">
                  <c:v>26</c:v>
                </c:pt>
                <c:pt idx="1">
                  <c:v>14</c:v>
                </c:pt>
                <c:pt idx="2">
                  <c:v>11</c:v>
                </c:pt>
                <c:pt idx="3">
                  <c:v>9</c:v>
                </c:pt>
                <c:pt idx="4">
                  <c:v>8</c:v>
                </c:pt>
                <c:pt idx="5">
                  <c:v>6</c:v>
                </c:pt>
                <c:pt idx="6">
                  <c:v>26</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36"/>
          </a:solidFill>
          <a:ln/>
        </p:spPr>
      </p:sp>
      <p:sp>
        <p:nvSpPr>
          <p:cNvPr id="3" name="Shape 1"/>
          <p:cNvSpPr/>
          <p:nvPr/>
        </p:nvSpPr>
        <p:spPr>
          <a:xfrm>
            <a:off x="7985455" y="-2011680"/>
            <a:ext cx="6583680" cy="6583680"/>
          </a:xfrm>
          <a:prstGeom prst="ellipse">
            <a:avLst/>
          </a:prstGeom>
          <a:solidFill>
            <a:srgbClr val="2E4150"/>
          </a:solidFill>
          <a:ln/>
        </p:spPr>
      </p:sp>
      <p:sp>
        <p:nvSpPr>
          <p:cNvPr id="4" name="Shape 2"/>
          <p:cNvSpPr/>
          <p:nvPr/>
        </p:nvSpPr>
        <p:spPr>
          <a:xfrm>
            <a:off x="9814255" y="3749040"/>
            <a:ext cx="4023360" cy="4023360"/>
          </a:xfrm>
          <a:prstGeom prst="ellipse">
            <a:avLst/>
          </a:prstGeom>
          <a:solidFill>
            <a:srgbClr val="B0611C"/>
          </a:solidFill>
          <a:ln/>
        </p:spPr>
      </p:sp>
      <p:pic>
        <p:nvPicPr>
          <p:cNvPr id="5" name="Image 0" descr="/home/claude/pptx_kit/icons/bar_chart__white.png">    </p:cNvPr>
          <p:cNvPicPr>
            <a:picLocks noChangeAspect="1"/>
          </p:cNvPicPr>
          <p:nvPr/>
        </p:nvPicPr>
        <p:blipFill>
          <a:blip r:embed="rId1"/>
          <a:stretch>
            <a:fillRect/>
          </a:stretch>
        </p:blipFill>
        <p:spPr>
          <a:xfrm>
            <a:off x="10774375" y="5166360"/>
            <a:ext cx="566928" cy="566928"/>
          </a:xfrm>
          <a:prstGeom prst="rect">
            <a:avLst/>
          </a:prstGeom>
        </p:spPr>
      </p:pic>
      <p:sp>
        <p:nvSpPr>
          <p:cNvPr id="6" name="Text 3"/>
          <p:cNvSpPr/>
          <p:nvPr/>
        </p:nvSpPr>
        <p:spPr>
          <a:xfrm>
            <a:off x="822960" y="1417320"/>
            <a:ext cx="7772400" cy="365760"/>
          </a:xfrm>
          <a:prstGeom prst="rect">
            <a:avLst/>
          </a:prstGeom>
          <a:noFill/>
          <a:ln/>
        </p:spPr>
        <p:txBody>
          <a:bodyPr wrap="square" lIns="0" tIns="0" rIns="0" bIns="0" rtlCol="0" anchor="ctr"/>
          <a:lstStyle/>
          <a:p>
            <a:pPr indent="0" marL="0">
              <a:buNone/>
            </a:pPr>
            <a:r>
              <a:rPr lang="en-US" sz="1300" b="1" spc="300" kern="0" dirty="0">
                <a:solidFill>
                  <a:srgbClr val="E8CBA8"/>
                </a:solidFill>
                <a:latin typeface="Calibri" pitchFamily="34" charset="0"/>
                <a:ea typeface="Calibri" pitchFamily="34" charset="-122"/>
                <a:cs typeface="Calibri" pitchFamily="34" charset="-120"/>
              </a:rPr>
              <a:t>PLANTILLA EDITABLE · INFORME MENSUAL</a:t>
            </a:r>
            <a:endParaRPr lang="en-US" sz="1300" dirty="0"/>
          </a:p>
        </p:txBody>
      </p:sp>
      <p:sp>
        <p:nvSpPr>
          <p:cNvPr id="7" name="Text 4"/>
          <p:cNvSpPr/>
          <p:nvPr/>
        </p:nvSpPr>
        <p:spPr>
          <a:xfrm>
            <a:off x="822960" y="1874520"/>
            <a:ext cx="8778240" cy="192024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Resultados de Venta</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Julio 2026</a:t>
            </a:r>
            <a:endParaRPr lang="en-US" sz="4600" dirty="0"/>
          </a:p>
        </p:txBody>
      </p:sp>
      <p:sp>
        <p:nvSpPr>
          <p:cNvPr id="8" name="Text 5"/>
          <p:cNvSpPr/>
          <p:nvPr/>
        </p:nvSpPr>
        <p:spPr>
          <a:xfrm>
            <a:off x="822960" y="3703320"/>
            <a:ext cx="7863840" cy="822960"/>
          </a:xfrm>
          <a:prstGeom prst="rect">
            <a:avLst/>
          </a:prstGeom>
          <a:noFill/>
          <a:ln/>
        </p:spPr>
        <p:txBody>
          <a:bodyPr wrap="square" lIns="0" tIns="0" rIns="0" bIns="0" rtlCol="0" anchor="ctr"/>
          <a:lstStyle/>
          <a:p>
            <a:pPr indent="0" marL="0">
              <a:lnSpc>
                <a:spcPct val="120000"/>
              </a:lnSpc>
              <a:buNone/>
            </a:pPr>
            <a:r>
              <a:rPr lang="en-US" sz="1600" i="1" dirty="0">
                <a:solidFill>
                  <a:srgbClr val="C6CFD5"/>
                </a:solidFill>
                <a:latin typeface="Calibri" pitchFamily="34" charset="0"/>
                <a:ea typeface="Calibri" pitchFamily="34" charset="-122"/>
                <a:cs typeface="Calibri" pitchFamily="34" charset="-120"/>
              </a:rPr>
              <a:t>Resumen de desempeño comercial para el comité de dirección</a:t>
            </a:r>
            <a:endParaRPr lang="en-US" sz="1600" dirty="0"/>
          </a:p>
        </p:txBody>
      </p:sp>
      <p:sp>
        <p:nvSpPr>
          <p:cNvPr id="9" name="Shape 6"/>
          <p:cNvSpPr/>
          <p:nvPr/>
        </p:nvSpPr>
        <p:spPr>
          <a:xfrm>
            <a:off x="822960" y="5806440"/>
            <a:ext cx="1463040" cy="0"/>
          </a:xfrm>
          <a:prstGeom prst="line">
            <a:avLst/>
          </a:prstGeom>
          <a:noFill/>
          <a:ln w="25400">
            <a:solidFill>
              <a:srgbClr val="B0611C"/>
            </a:solidFill>
            <a:prstDash val="solid"/>
          </a:ln>
        </p:spPr>
      </p:sp>
      <p:sp>
        <p:nvSpPr>
          <p:cNvPr id="10" name="Text 7"/>
          <p:cNvSpPr/>
          <p:nvPr/>
        </p:nvSpPr>
        <p:spPr>
          <a:xfrm>
            <a:off x="822960" y="5943600"/>
            <a:ext cx="7315200" cy="457200"/>
          </a:xfrm>
          <a:prstGeom prst="rect">
            <a:avLst/>
          </a:prstGeom>
          <a:noFill/>
          <a:ln/>
        </p:spPr>
        <p:txBody>
          <a:bodyPr wrap="square" lIns="0" tIns="0" rIns="0" bIns="0" rtlCol="0" anchor="ctr"/>
          <a:lstStyle/>
          <a:p>
            <a:pPr indent="0" marL="0">
              <a:buNone/>
            </a:pPr>
            <a:r>
              <a:rPr lang="en-US" sz="1100" dirty="0">
                <a:solidFill>
                  <a:srgbClr val="C6CFD5"/>
                </a:solidFill>
                <a:latin typeface="Calibri" pitchFamily="34" charset="0"/>
                <a:ea typeface="Calibri" pitchFamily="34" charset="-122"/>
                <a:cs typeface="Calibri" pitchFamily="34" charset="-120"/>
              </a:rPr>
              <a:t>[Nombre de tu empresa]   ·   Presentado por [Tu nombre]   ·   Corte al 31 de julio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150" b="1" spc="200" kern="0" dirty="0">
                <a:solidFill>
                  <a:srgbClr val="B0611C"/>
                </a:solidFill>
                <a:latin typeface="Calibri" pitchFamily="34" charset="0"/>
                <a:ea typeface="Calibri" pitchFamily="34" charset="-122"/>
                <a:cs typeface="Calibri" pitchFamily="34" charset="-120"/>
              </a:rPr>
              <a:t>RESUMEN EJECUTIVO</a:t>
            </a:r>
            <a:endParaRPr lang="en-US" sz="1150" dirty="0"/>
          </a:p>
        </p:txBody>
      </p:sp>
      <p:sp>
        <p:nvSpPr>
          <p:cNvPr id="3" name="Text 1"/>
          <p:cNvSpPr/>
          <p:nvPr/>
        </p:nvSpPr>
        <p:spPr>
          <a:xfrm>
            <a:off x="640080" y="777240"/>
            <a:ext cx="10881360" cy="731520"/>
          </a:xfrm>
          <a:prstGeom prst="rect">
            <a:avLst/>
          </a:prstGeom>
          <a:noFill/>
          <a:ln/>
        </p:spPr>
        <p:txBody>
          <a:bodyPr wrap="square" lIns="0" tIns="0" rIns="0" bIns="0" rtlCol="0" anchor="ctr"/>
          <a:lstStyle/>
          <a:p>
            <a:pPr indent="0" marL="0">
              <a:buNone/>
            </a:pPr>
            <a:r>
              <a:rPr lang="en-US" sz="2700" b="1" dirty="0">
                <a:solidFill>
                  <a:srgbClr val="1B2A36"/>
                </a:solidFill>
                <a:latin typeface="Cambria" pitchFamily="34" charset="0"/>
                <a:ea typeface="Cambria" pitchFamily="34" charset="-122"/>
                <a:cs typeface="Cambria" pitchFamily="34" charset="-120"/>
              </a:rPr>
              <a:t>Así cerramos el mes</a:t>
            </a:r>
            <a:endParaRPr lang="en-US" sz="2700" dirty="0"/>
          </a:p>
        </p:txBody>
      </p:sp>
      <p:sp>
        <p:nvSpPr>
          <p:cNvPr id="4" name="Shape 2"/>
          <p:cNvSpPr/>
          <p:nvPr/>
        </p:nvSpPr>
        <p:spPr>
          <a:xfrm>
            <a:off x="640080" y="1874520"/>
            <a:ext cx="2542032" cy="2148840"/>
          </a:xfrm>
          <a:prstGeom prst="roundRect">
            <a:avLst>
              <a:gd name="adj" fmla="val 2979"/>
            </a:avLst>
          </a:prstGeom>
          <a:solidFill>
            <a:srgbClr val="FFFFFF"/>
          </a:solidFill>
          <a:ln w="12700">
            <a:solidFill>
              <a:srgbClr val="E2DED5"/>
            </a:solidFill>
            <a:prstDash val="solid"/>
          </a:ln>
          <a:effectLst>
            <a:outerShdw sx="100000" sy="100000" kx="0" ky="0" algn="bl" rotWithShape="0" blurRad="101600" dist="38100" dir="5400000">
              <a:srgbClr val="1B2A36">
                <a:alpha val="12000"/>
              </a:srgbClr>
            </a:outerShdw>
          </a:effectLst>
        </p:spPr>
      </p:sp>
      <p:sp>
        <p:nvSpPr>
          <p:cNvPr id="5" name="Shape 3"/>
          <p:cNvSpPr/>
          <p:nvPr/>
        </p:nvSpPr>
        <p:spPr>
          <a:xfrm>
            <a:off x="896112" y="2112264"/>
            <a:ext cx="457200" cy="457200"/>
          </a:xfrm>
          <a:prstGeom prst="ellipse">
            <a:avLst/>
          </a:prstGeom>
          <a:solidFill>
            <a:srgbClr val="F5F3EE"/>
          </a:solidFill>
          <a:ln/>
        </p:spPr>
      </p:sp>
      <p:pic>
        <p:nvPicPr>
          <p:cNvPr id="6" name="Image 0" descr="/home/claude/pptx_kit/icons/dollar__accent.png">    </p:cNvPr>
          <p:cNvPicPr>
            <a:picLocks noChangeAspect="1"/>
          </p:cNvPicPr>
          <p:nvPr/>
        </p:nvPicPr>
        <p:blipFill>
          <a:blip r:embed="rId1"/>
          <a:stretch>
            <a:fillRect/>
          </a:stretch>
        </p:blipFill>
        <p:spPr>
          <a:xfrm>
            <a:off x="996696" y="2212848"/>
            <a:ext cx="256032" cy="256032"/>
          </a:xfrm>
          <a:prstGeom prst="rect">
            <a:avLst/>
          </a:prstGeom>
        </p:spPr>
      </p:pic>
      <p:sp>
        <p:nvSpPr>
          <p:cNvPr id="7" name="Text 4"/>
          <p:cNvSpPr/>
          <p:nvPr/>
        </p:nvSpPr>
        <p:spPr>
          <a:xfrm>
            <a:off x="896112" y="2715768"/>
            <a:ext cx="2029968" cy="384048"/>
          </a:xfrm>
          <a:prstGeom prst="rect">
            <a:avLst/>
          </a:prstGeom>
          <a:noFill/>
          <a:ln/>
        </p:spPr>
        <p:txBody>
          <a:bodyPr wrap="square" lIns="0" tIns="0" rIns="0" bIns="0" rtlCol="0" anchor="t"/>
          <a:lstStyle/>
          <a:p>
            <a:pPr indent="0" marL="0">
              <a:lnSpc>
                <a:spcPct val="105000"/>
              </a:lnSpc>
              <a:buNone/>
            </a:pPr>
            <a:r>
              <a:rPr lang="en-US" sz="950" b="1" spc="50" kern="0" dirty="0">
                <a:solidFill>
                  <a:srgbClr val="6E7C86"/>
                </a:solidFill>
                <a:latin typeface="Calibri" pitchFamily="34" charset="0"/>
                <a:ea typeface="Calibri" pitchFamily="34" charset="-122"/>
                <a:cs typeface="Calibri" pitchFamily="34" charset="-120"/>
              </a:rPr>
              <a:t>VENTA NETA</a:t>
            </a:r>
            <a:endParaRPr lang="en-US" sz="950" dirty="0"/>
          </a:p>
        </p:txBody>
      </p:sp>
      <p:sp>
        <p:nvSpPr>
          <p:cNvPr id="8" name="Text 5"/>
          <p:cNvSpPr/>
          <p:nvPr/>
        </p:nvSpPr>
        <p:spPr>
          <a:xfrm>
            <a:off x="896112" y="3136392"/>
            <a:ext cx="2029968" cy="457200"/>
          </a:xfrm>
          <a:prstGeom prst="rect">
            <a:avLst/>
          </a:prstGeom>
          <a:noFill/>
          <a:ln/>
        </p:spPr>
        <p:txBody>
          <a:bodyPr wrap="square" lIns="0" tIns="0" rIns="0" bIns="0" rtlCol="0" anchor="t"/>
          <a:lstStyle/>
          <a:p>
            <a:pPr indent="0" marL="0">
              <a:buNone/>
            </a:pPr>
            <a:r>
              <a:rPr lang="en-US" sz="2500" b="1" dirty="0">
                <a:solidFill>
                  <a:srgbClr val="1B2A36"/>
                </a:solidFill>
                <a:latin typeface="Cambria" pitchFamily="34" charset="0"/>
                <a:ea typeface="Cambria" pitchFamily="34" charset="-122"/>
                <a:cs typeface="Cambria" pitchFamily="34" charset="-120"/>
              </a:rPr>
              <a:t>$4.38M</a:t>
            </a:r>
            <a:endParaRPr lang="en-US" sz="2500" dirty="0"/>
          </a:p>
        </p:txBody>
      </p:sp>
      <p:sp>
        <p:nvSpPr>
          <p:cNvPr id="9" name="Text 6"/>
          <p:cNvSpPr/>
          <p:nvPr/>
        </p:nvSpPr>
        <p:spPr>
          <a:xfrm>
            <a:off x="896112" y="3630168"/>
            <a:ext cx="2029968" cy="274320"/>
          </a:xfrm>
          <a:prstGeom prst="rect">
            <a:avLst/>
          </a:prstGeom>
          <a:noFill/>
          <a:ln/>
        </p:spPr>
        <p:txBody>
          <a:bodyPr wrap="square" lIns="0" tIns="0" rIns="0" bIns="0" rtlCol="0" anchor="t"/>
          <a:lstStyle/>
          <a:p>
            <a:pPr indent="0" marL="0">
              <a:buNone/>
            </a:pPr>
            <a:r>
              <a:rPr lang="en-US" sz="1000" b="1" dirty="0">
                <a:solidFill>
                  <a:srgbClr val="2F6B4F"/>
                </a:solidFill>
                <a:latin typeface="Calibri" pitchFamily="34" charset="0"/>
                <a:ea typeface="Calibri" pitchFamily="34" charset="-122"/>
                <a:cs typeface="Calibri" pitchFamily="34" charset="-120"/>
              </a:rPr>
              <a:t>▲ 9.5% vs año anterior</a:t>
            </a:r>
            <a:endParaRPr lang="en-US" sz="1000" dirty="0"/>
          </a:p>
        </p:txBody>
      </p:sp>
      <p:sp>
        <p:nvSpPr>
          <p:cNvPr id="10" name="Shape 7"/>
          <p:cNvSpPr/>
          <p:nvPr/>
        </p:nvSpPr>
        <p:spPr>
          <a:xfrm>
            <a:off x="3438144" y="1874520"/>
            <a:ext cx="2542032" cy="2148840"/>
          </a:xfrm>
          <a:prstGeom prst="roundRect">
            <a:avLst>
              <a:gd name="adj" fmla="val 2979"/>
            </a:avLst>
          </a:prstGeom>
          <a:solidFill>
            <a:srgbClr val="FFFFFF"/>
          </a:solidFill>
          <a:ln w="12700">
            <a:solidFill>
              <a:srgbClr val="E2DED5"/>
            </a:solidFill>
            <a:prstDash val="solid"/>
          </a:ln>
          <a:effectLst>
            <a:outerShdw sx="100000" sy="100000" kx="0" ky="0" algn="bl" rotWithShape="0" blurRad="101600" dist="38100" dir="5400000">
              <a:srgbClr val="1B2A36">
                <a:alpha val="12000"/>
              </a:srgbClr>
            </a:outerShdw>
          </a:effectLst>
        </p:spPr>
      </p:sp>
      <p:sp>
        <p:nvSpPr>
          <p:cNvPr id="11" name="Shape 8"/>
          <p:cNvSpPr/>
          <p:nvPr/>
        </p:nvSpPr>
        <p:spPr>
          <a:xfrm>
            <a:off x="3694176" y="2112264"/>
            <a:ext cx="457200" cy="457200"/>
          </a:xfrm>
          <a:prstGeom prst="ellipse">
            <a:avLst/>
          </a:prstGeom>
          <a:solidFill>
            <a:srgbClr val="F5F3EE"/>
          </a:solidFill>
          <a:ln/>
        </p:spPr>
      </p:sp>
      <p:pic>
        <p:nvPicPr>
          <p:cNvPr id="12" name="Image 1" descr="/home/claude/pptx_kit/icons/shopping_bag__accent.png">    </p:cNvPr>
          <p:cNvPicPr>
            <a:picLocks noChangeAspect="1"/>
          </p:cNvPicPr>
          <p:nvPr/>
        </p:nvPicPr>
        <p:blipFill>
          <a:blip r:embed="rId2"/>
          <a:stretch>
            <a:fillRect/>
          </a:stretch>
        </p:blipFill>
        <p:spPr>
          <a:xfrm>
            <a:off x="3794760" y="2212848"/>
            <a:ext cx="256032" cy="256032"/>
          </a:xfrm>
          <a:prstGeom prst="rect">
            <a:avLst/>
          </a:prstGeom>
        </p:spPr>
      </p:pic>
      <p:sp>
        <p:nvSpPr>
          <p:cNvPr id="13" name="Text 9"/>
          <p:cNvSpPr/>
          <p:nvPr/>
        </p:nvSpPr>
        <p:spPr>
          <a:xfrm>
            <a:off x="3694176" y="2715768"/>
            <a:ext cx="2029968" cy="384048"/>
          </a:xfrm>
          <a:prstGeom prst="rect">
            <a:avLst/>
          </a:prstGeom>
          <a:noFill/>
          <a:ln/>
        </p:spPr>
        <p:txBody>
          <a:bodyPr wrap="square" lIns="0" tIns="0" rIns="0" bIns="0" rtlCol="0" anchor="t"/>
          <a:lstStyle/>
          <a:p>
            <a:pPr indent="0" marL="0">
              <a:lnSpc>
                <a:spcPct val="105000"/>
              </a:lnSpc>
              <a:buNone/>
            </a:pPr>
            <a:r>
              <a:rPr lang="en-US" sz="950" b="1" spc="50" kern="0" dirty="0">
                <a:solidFill>
                  <a:srgbClr val="6E7C86"/>
                </a:solidFill>
                <a:latin typeface="Calibri" pitchFamily="34" charset="0"/>
                <a:ea typeface="Calibri" pitchFamily="34" charset="-122"/>
                <a:cs typeface="Calibri" pitchFamily="34" charset="-120"/>
              </a:rPr>
              <a:t>TICKETS</a:t>
            </a:r>
            <a:endParaRPr lang="en-US" sz="950" dirty="0"/>
          </a:p>
        </p:txBody>
      </p:sp>
      <p:sp>
        <p:nvSpPr>
          <p:cNvPr id="14" name="Text 10"/>
          <p:cNvSpPr/>
          <p:nvPr/>
        </p:nvSpPr>
        <p:spPr>
          <a:xfrm>
            <a:off x="3694176" y="3136392"/>
            <a:ext cx="2029968" cy="457200"/>
          </a:xfrm>
          <a:prstGeom prst="rect">
            <a:avLst/>
          </a:prstGeom>
          <a:noFill/>
          <a:ln/>
        </p:spPr>
        <p:txBody>
          <a:bodyPr wrap="square" lIns="0" tIns="0" rIns="0" bIns="0" rtlCol="0" anchor="t"/>
          <a:lstStyle/>
          <a:p>
            <a:pPr indent="0" marL="0">
              <a:buNone/>
            </a:pPr>
            <a:r>
              <a:rPr lang="en-US" sz="2500" b="1" dirty="0">
                <a:solidFill>
                  <a:srgbClr val="1B2A36"/>
                </a:solidFill>
                <a:latin typeface="Cambria" pitchFamily="34" charset="0"/>
                <a:ea typeface="Cambria" pitchFamily="34" charset="-122"/>
                <a:cs typeface="Cambria" pitchFamily="34" charset="-120"/>
              </a:rPr>
              <a:t>25,624</a:t>
            </a:r>
            <a:endParaRPr lang="en-US" sz="2500" dirty="0"/>
          </a:p>
        </p:txBody>
      </p:sp>
      <p:sp>
        <p:nvSpPr>
          <p:cNvPr id="15" name="Text 11"/>
          <p:cNvSpPr/>
          <p:nvPr/>
        </p:nvSpPr>
        <p:spPr>
          <a:xfrm>
            <a:off x="3694176" y="3630168"/>
            <a:ext cx="2029968" cy="274320"/>
          </a:xfrm>
          <a:prstGeom prst="rect">
            <a:avLst/>
          </a:prstGeom>
          <a:noFill/>
          <a:ln/>
        </p:spPr>
        <p:txBody>
          <a:bodyPr wrap="square" lIns="0" tIns="0" rIns="0" bIns="0" rtlCol="0" anchor="t"/>
          <a:lstStyle/>
          <a:p>
            <a:pPr indent="0" marL="0">
              <a:buNone/>
            </a:pPr>
            <a:r>
              <a:rPr lang="en-US" sz="1000" b="1" dirty="0">
                <a:solidFill>
                  <a:srgbClr val="2F6B4F"/>
                </a:solidFill>
                <a:latin typeface="Calibri" pitchFamily="34" charset="0"/>
                <a:ea typeface="Calibri" pitchFamily="34" charset="-122"/>
                <a:cs typeface="Calibri" pitchFamily="34" charset="-120"/>
              </a:rPr>
              <a:t>▲ 4.1% vs mes anterior</a:t>
            </a:r>
            <a:endParaRPr lang="en-US" sz="1000" dirty="0"/>
          </a:p>
        </p:txBody>
      </p:sp>
      <p:sp>
        <p:nvSpPr>
          <p:cNvPr id="16" name="Shape 12"/>
          <p:cNvSpPr/>
          <p:nvPr/>
        </p:nvSpPr>
        <p:spPr>
          <a:xfrm>
            <a:off x="6236208" y="1874520"/>
            <a:ext cx="2542032" cy="2148840"/>
          </a:xfrm>
          <a:prstGeom prst="roundRect">
            <a:avLst>
              <a:gd name="adj" fmla="val 2979"/>
            </a:avLst>
          </a:prstGeom>
          <a:solidFill>
            <a:srgbClr val="FFFFFF"/>
          </a:solidFill>
          <a:ln w="12700">
            <a:solidFill>
              <a:srgbClr val="E2DED5"/>
            </a:solidFill>
            <a:prstDash val="solid"/>
          </a:ln>
          <a:effectLst>
            <a:outerShdw sx="100000" sy="100000" kx="0" ky="0" algn="bl" rotWithShape="0" blurRad="101600" dist="38100" dir="5400000">
              <a:srgbClr val="1B2A36">
                <a:alpha val="12000"/>
              </a:srgbClr>
            </a:outerShdw>
          </a:effectLst>
        </p:spPr>
      </p:sp>
      <p:sp>
        <p:nvSpPr>
          <p:cNvPr id="17" name="Shape 13"/>
          <p:cNvSpPr/>
          <p:nvPr/>
        </p:nvSpPr>
        <p:spPr>
          <a:xfrm>
            <a:off x="6492240" y="2112264"/>
            <a:ext cx="457200" cy="457200"/>
          </a:xfrm>
          <a:prstGeom prst="ellipse">
            <a:avLst/>
          </a:prstGeom>
          <a:solidFill>
            <a:srgbClr val="F5F3EE"/>
          </a:solidFill>
          <a:ln/>
        </p:spPr>
      </p:sp>
      <p:pic>
        <p:nvPicPr>
          <p:cNvPr id="18" name="Image 2" descr="/home/claude/pptx_kit/icons/trending_up__accent.png">    </p:cNvPr>
          <p:cNvPicPr>
            <a:picLocks noChangeAspect="1"/>
          </p:cNvPicPr>
          <p:nvPr/>
        </p:nvPicPr>
        <p:blipFill>
          <a:blip r:embed="rId3"/>
          <a:stretch>
            <a:fillRect/>
          </a:stretch>
        </p:blipFill>
        <p:spPr>
          <a:xfrm>
            <a:off x="6592824" y="2212848"/>
            <a:ext cx="256032" cy="256032"/>
          </a:xfrm>
          <a:prstGeom prst="rect">
            <a:avLst/>
          </a:prstGeom>
        </p:spPr>
      </p:pic>
      <p:sp>
        <p:nvSpPr>
          <p:cNvPr id="19" name="Text 14"/>
          <p:cNvSpPr/>
          <p:nvPr/>
        </p:nvSpPr>
        <p:spPr>
          <a:xfrm>
            <a:off x="6492240" y="2715768"/>
            <a:ext cx="2029968" cy="384048"/>
          </a:xfrm>
          <a:prstGeom prst="rect">
            <a:avLst/>
          </a:prstGeom>
          <a:noFill/>
          <a:ln/>
        </p:spPr>
        <p:txBody>
          <a:bodyPr wrap="square" lIns="0" tIns="0" rIns="0" bIns="0" rtlCol="0" anchor="t"/>
          <a:lstStyle/>
          <a:p>
            <a:pPr indent="0" marL="0">
              <a:lnSpc>
                <a:spcPct val="105000"/>
              </a:lnSpc>
              <a:buNone/>
            </a:pPr>
            <a:r>
              <a:rPr lang="en-US" sz="950" b="1" spc="50" kern="0" dirty="0">
                <a:solidFill>
                  <a:srgbClr val="6E7C86"/>
                </a:solidFill>
                <a:latin typeface="Calibri" pitchFamily="34" charset="0"/>
                <a:ea typeface="Calibri" pitchFamily="34" charset="-122"/>
                <a:cs typeface="Calibri" pitchFamily="34" charset="-120"/>
              </a:rPr>
              <a:t>TICKET PROMEDIO</a:t>
            </a:r>
            <a:endParaRPr lang="en-US" sz="950" dirty="0"/>
          </a:p>
        </p:txBody>
      </p:sp>
      <p:sp>
        <p:nvSpPr>
          <p:cNvPr id="20" name="Text 15"/>
          <p:cNvSpPr/>
          <p:nvPr/>
        </p:nvSpPr>
        <p:spPr>
          <a:xfrm>
            <a:off x="6492240" y="3136392"/>
            <a:ext cx="2029968" cy="457200"/>
          </a:xfrm>
          <a:prstGeom prst="rect">
            <a:avLst/>
          </a:prstGeom>
          <a:noFill/>
          <a:ln/>
        </p:spPr>
        <p:txBody>
          <a:bodyPr wrap="square" lIns="0" tIns="0" rIns="0" bIns="0" rtlCol="0" anchor="t"/>
          <a:lstStyle/>
          <a:p>
            <a:pPr indent="0" marL="0">
              <a:buNone/>
            </a:pPr>
            <a:r>
              <a:rPr lang="en-US" sz="2500" b="1" dirty="0">
                <a:solidFill>
                  <a:srgbClr val="1B2A36"/>
                </a:solidFill>
                <a:latin typeface="Cambria" pitchFamily="34" charset="0"/>
                <a:ea typeface="Cambria" pitchFamily="34" charset="-122"/>
                <a:cs typeface="Cambria" pitchFamily="34" charset="-120"/>
              </a:rPr>
              <a:t>$170.86</a:t>
            </a:r>
            <a:endParaRPr lang="en-US" sz="2500" dirty="0"/>
          </a:p>
        </p:txBody>
      </p:sp>
      <p:sp>
        <p:nvSpPr>
          <p:cNvPr id="21" name="Text 16"/>
          <p:cNvSpPr/>
          <p:nvPr/>
        </p:nvSpPr>
        <p:spPr>
          <a:xfrm>
            <a:off x="6492240" y="3630168"/>
            <a:ext cx="2029968" cy="274320"/>
          </a:xfrm>
          <a:prstGeom prst="rect">
            <a:avLst/>
          </a:prstGeom>
          <a:noFill/>
          <a:ln/>
        </p:spPr>
        <p:txBody>
          <a:bodyPr wrap="square" lIns="0" tIns="0" rIns="0" bIns="0" rtlCol="0" anchor="t"/>
          <a:lstStyle/>
          <a:p>
            <a:pPr indent="0" marL="0">
              <a:buNone/>
            </a:pPr>
            <a:r>
              <a:rPr lang="en-US" sz="1000" b="1" dirty="0">
                <a:solidFill>
                  <a:srgbClr val="2F6B4F"/>
                </a:solidFill>
                <a:latin typeface="Calibri" pitchFamily="34" charset="0"/>
                <a:ea typeface="Calibri" pitchFamily="34" charset="-122"/>
                <a:cs typeface="Calibri" pitchFamily="34" charset="-120"/>
              </a:rPr>
              <a:t>▲ $6.20 vs mes anterior</a:t>
            </a:r>
            <a:endParaRPr lang="en-US" sz="1000" dirty="0"/>
          </a:p>
        </p:txBody>
      </p:sp>
      <p:sp>
        <p:nvSpPr>
          <p:cNvPr id="22" name="Shape 17"/>
          <p:cNvSpPr/>
          <p:nvPr/>
        </p:nvSpPr>
        <p:spPr>
          <a:xfrm>
            <a:off x="9034272" y="1874520"/>
            <a:ext cx="2542032" cy="2148840"/>
          </a:xfrm>
          <a:prstGeom prst="roundRect">
            <a:avLst>
              <a:gd name="adj" fmla="val 2979"/>
            </a:avLst>
          </a:prstGeom>
          <a:solidFill>
            <a:srgbClr val="FFFFFF"/>
          </a:solidFill>
          <a:ln w="12700">
            <a:solidFill>
              <a:srgbClr val="E2DED5"/>
            </a:solidFill>
            <a:prstDash val="solid"/>
          </a:ln>
          <a:effectLst>
            <a:outerShdw sx="100000" sy="100000" kx="0" ky="0" algn="bl" rotWithShape="0" blurRad="101600" dist="38100" dir="5400000">
              <a:srgbClr val="1B2A36">
                <a:alpha val="12000"/>
              </a:srgbClr>
            </a:outerShdw>
          </a:effectLst>
        </p:spPr>
      </p:sp>
      <p:sp>
        <p:nvSpPr>
          <p:cNvPr id="23" name="Shape 18"/>
          <p:cNvSpPr/>
          <p:nvPr/>
        </p:nvSpPr>
        <p:spPr>
          <a:xfrm>
            <a:off x="9290304" y="2112264"/>
            <a:ext cx="457200" cy="457200"/>
          </a:xfrm>
          <a:prstGeom prst="ellipse">
            <a:avLst/>
          </a:prstGeom>
          <a:solidFill>
            <a:srgbClr val="F5F3EE"/>
          </a:solidFill>
          <a:ln/>
        </p:spPr>
      </p:sp>
      <p:pic>
        <p:nvPicPr>
          <p:cNvPr id="24" name="Image 3" descr="/home/claude/pptx_kit/icons/target__accent.png">    </p:cNvPr>
          <p:cNvPicPr>
            <a:picLocks noChangeAspect="1"/>
          </p:cNvPicPr>
          <p:nvPr/>
        </p:nvPicPr>
        <p:blipFill>
          <a:blip r:embed="rId4"/>
          <a:stretch>
            <a:fillRect/>
          </a:stretch>
        </p:blipFill>
        <p:spPr>
          <a:xfrm>
            <a:off x="9390888" y="2212848"/>
            <a:ext cx="256032" cy="256032"/>
          </a:xfrm>
          <a:prstGeom prst="rect">
            <a:avLst/>
          </a:prstGeom>
        </p:spPr>
      </p:pic>
      <p:sp>
        <p:nvSpPr>
          <p:cNvPr id="25" name="Text 19"/>
          <p:cNvSpPr/>
          <p:nvPr/>
        </p:nvSpPr>
        <p:spPr>
          <a:xfrm>
            <a:off x="9290304" y="2715768"/>
            <a:ext cx="2029968" cy="384048"/>
          </a:xfrm>
          <a:prstGeom prst="rect">
            <a:avLst/>
          </a:prstGeom>
          <a:noFill/>
          <a:ln/>
        </p:spPr>
        <p:txBody>
          <a:bodyPr wrap="square" lIns="0" tIns="0" rIns="0" bIns="0" rtlCol="0" anchor="t"/>
          <a:lstStyle/>
          <a:p>
            <a:pPr indent="0" marL="0">
              <a:lnSpc>
                <a:spcPct val="105000"/>
              </a:lnSpc>
              <a:buNone/>
            </a:pPr>
            <a:r>
              <a:rPr lang="en-US" sz="950" b="1" spc="50" kern="0" dirty="0">
                <a:solidFill>
                  <a:srgbClr val="6E7C86"/>
                </a:solidFill>
                <a:latin typeface="Calibri" pitchFamily="34" charset="0"/>
                <a:ea typeface="Calibri" pitchFamily="34" charset="-122"/>
                <a:cs typeface="Calibri" pitchFamily="34" charset="-120"/>
              </a:rPr>
              <a:t>CUMPLIMIENTO DE META</a:t>
            </a:r>
            <a:endParaRPr lang="en-US" sz="950" dirty="0"/>
          </a:p>
        </p:txBody>
      </p:sp>
      <p:sp>
        <p:nvSpPr>
          <p:cNvPr id="26" name="Text 20"/>
          <p:cNvSpPr/>
          <p:nvPr/>
        </p:nvSpPr>
        <p:spPr>
          <a:xfrm>
            <a:off x="9290304" y="3136392"/>
            <a:ext cx="2029968" cy="457200"/>
          </a:xfrm>
          <a:prstGeom prst="rect">
            <a:avLst/>
          </a:prstGeom>
          <a:noFill/>
          <a:ln/>
        </p:spPr>
        <p:txBody>
          <a:bodyPr wrap="square" lIns="0" tIns="0" rIns="0" bIns="0" rtlCol="0" anchor="t"/>
          <a:lstStyle/>
          <a:p>
            <a:pPr indent="0" marL="0">
              <a:buNone/>
            </a:pPr>
            <a:r>
              <a:rPr lang="en-US" sz="2500" b="1" dirty="0">
                <a:solidFill>
                  <a:srgbClr val="1B2A36"/>
                </a:solidFill>
                <a:latin typeface="Cambria" pitchFamily="34" charset="0"/>
                <a:ea typeface="Cambria" pitchFamily="34" charset="-122"/>
                <a:cs typeface="Cambria" pitchFamily="34" charset="-120"/>
              </a:rPr>
              <a:t>97.2%</a:t>
            </a:r>
            <a:endParaRPr lang="en-US" sz="2500" dirty="0"/>
          </a:p>
        </p:txBody>
      </p:sp>
      <p:sp>
        <p:nvSpPr>
          <p:cNvPr id="27" name="Text 21"/>
          <p:cNvSpPr/>
          <p:nvPr/>
        </p:nvSpPr>
        <p:spPr>
          <a:xfrm>
            <a:off x="9290304" y="3630168"/>
            <a:ext cx="2029968" cy="274320"/>
          </a:xfrm>
          <a:prstGeom prst="rect">
            <a:avLst/>
          </a:prstGeom>
          <a:noFill/>
          <a:ln/>
        </p:spPr>
        <p:txBody>
          <a:bodyPr wrap="square" lIns="0" tIns="0" rIns="0" bIns="0" rtlCol="0" anchor="t"/>
          <a:lstStyle/>
          <a:p>
            <a:pPr indent="0" marL="0">
              <a:buNone/>
            </a:pPr>
            <a:r>
              <a:rPr lang="en-US" sz="1000" b="1" dirty="0">
                <a:solidFill>
                  <a:srgbClr val="9B3B34"/>
                </a:solidFill>
                <a:latin typeface="Calibri" pitchFamily="34" charset="0"/>
                <a:ea typeface="Calibri" pitchFamily="34" charset="-122"/>
                <a:cs typeface="Calibri" pitchFamily="34" charset="-120"/>
              </a:rPr>
              <a:t>▼ 2.8 pts bajo meta</a:t>
            </a:r>
            <a:endParaRPr lang="en-US" sz="1000" dirty="0"/>
          </a:p>
        </p:txBody>
      </p:sp>
      <p:sp>
        <p:nvSpPr>
          <p:cNvPr id="28" name="Text 22"/>
          <p:cNvSpPr/>
          <p:nvPr/>
        </p:nvSpPr>
        <p:spPr>
          <a:xfrm>
            <a:off x="640080" y="4370832"/>
            <a:ext cx="10058400" cy="640080"/>
          </a:xfrm>
          <a:prstGeom prst="rect">
            <a:avLst/>
          </a:prstGeom>
          <a:noFill/>
          <a:ln/>
        </p:spPr>
        <p:txBody>
          <a:bodyPr wrap="square" lIns="0" tIns="0" rIns="0" bIns="0" rtlCol="0" anchor="ctr"/>
          <a:lstStyle/>
          <a:p>
            <a:pPr indent="0" marL="0">
              <a:lnSpc>
                <a:spcPct val="125000"/>
              </a:lnSpc>
              <a:buNone/>
            </a:pPr>
            <a:r>
              <a:rPr lang="en-US" sz="1300" i="1" dirty="0">
                <a:solidFill>
                  <a:srgbClr val="6E7C86"/>
                </a:solidFill>
                <a:latin typeface="Calibri" pitchFamily="34" charset="0"/>
                <a:ea typeface="Calibri" pitchFamily="34" charset="-122"/>
                <a:cs typeface="Calibri" pitchFamily="34" charset="-120"/>
              </a:rPr>
              <a:t>El crecimiento sigue apoyado en tickets, no solo en precio: las unidades por ticket subieron de 2.24 a 2.33 en el año.</a:t>
            </a:r>
            <a:endParaRPr lang="en-US" sz="1300" dirty="0"/>
          </a:p>
        </p:txBody>
      </p:sp>
      <p:sp>
        <p:nvSpPr>
          <p:cNvPr id="29" name="Text 23"/>
          <p:cNvSpPr/>
          <p:nvPr/>
        </p:nvSpPr>
        <p:spPr>
          <a:xfrm>
            <a:off x="11185855" y="6473952"/>
            <a:ext cx="731520" cy="274320"/>
          </a:xfrm>
          <a:prstGeom prst="rect">
            <a:avLst/>
          </a:prstGeom>
          <a:noFill/>
          <a:ln/>
        </p:spPr>
        <p:txBody>
          <a:bodyPr wrap="square" lIns="0" tIns="0" rIns="0" bIns="0" rtlCol="0" anchor="ctr"/>
          <a:lstStyle/>
          <a:p>
            <a:pPr algn="r" indent="0" marL="0">
              <a:buNone/>
            </a:pPr>
            <a:r>
              <a:rPr lang="en-US" sz="900" dirty="0">
                <a:solidFill>
                  <a:srgbClr val="6E7C86"/>
                </a:solidFill>
                <a:latin typeface="Calibri" pitchFamily="34" charset="0"/>
                <a:ea typeface="Calibri" pitchFamily="34" charset="-122"/>
                <a:cs typeface="Calibri" pitchFamily="34" charset="-120"/>
              </a:rPr>
              <a:t>02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150" b="1" spc="200" kern="0" dirty="0">
                <a:solidFill>
                  <a:srgbClr val="B0611C"/>
                </a:solidFill>
                <a:latin typeface="Calibri" pitchFamily="34" charset="0"/>
                <a:ea typeface="Calibri" pitchFamily="34" charset="-122"/>
                <a:cs typeface="Calibri" pitchFamily="34" charset="-120"/>
              </a:rPr>
              <a:t>TENDENCIA</a:t>
            </a:r>
            <a:endParaRPr lang="en-US" sz="1150" dirty="0"/>
          </a:p>
        </p:txBody>
      </p:sp>
      <p:sp>
        <p:nvSpPr>
          <p:cNvPr id="3" name="Text 1"/>
          <p:cNvSpPr/>
          <p:nvPr/>
        </p:nvSpPr>
        <p:spPr>
          <a:xfrm>
            <a:off x="640080" y="777240"/>
            <a:ext cx="10881360" cy="731520"/>
          </a:xfrm>
          <a:prstGeom prst="rect">
            <a:avLst/>
          </a:prstGeom>
          <a:noFill/>
          <a:ln/>
        </p:spPr>
        <p:txBody>
          <a:bodyPr wrap="square" lIns="0" tIns="0" rIns="0" bIns="0" rtlCol="0" anchor="ctr"/>
          <a:lstStyle/>
          <a:p>
            <a:pPr indent="0" marL="0">
              <a:buNone/>
            </a:pPr>
            <a:r>
              <a:rPr lang="en-US" sz="2700" b="1" dirty="0">
                <a:solidFill>
                  <a:srgbClr val="1B2A36"/>
                </a:solidFill>
                <a:latin typeface="Cambria" pitchFamily="34" charset="0"/>
                <a:ea typeface="Cambria" pitchFamily="34" charset="-122"/>
                <a:cs typeface="Cambria" pitchFamily="34" charset="-120"/>
              </a:rPr>
              <a:t>Venta neta por mes, año actual contra anterior</a:t>
            </a:r>
            <a:endParaRPr lang="en-US" sz="2700" dirty="0"/>
          </a:p>
        </p:txBody>
      </p:sp>
      <p:graphicFrame>
        <p:nvGraphicFramePr>
          <p:cNvPr id="4" name="Chart 0" descr=""/>
          <p:cNvGraphicFramePr/>
          <p:nvPr/>
        </p:nvGraphicFramePr>
        <p:xfrm>
          <a:off x="640080" y="1600200"/>
          <a:ext cx="10881360"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1185855" y="6473952"/>
            <a:ext cx="731520" cy="274320"/>
          </a:xfrm>
          <a:prstGeom prst="rect">
            <a:avLst/>
          </a:prstGeom>
          <a:noFill/>
          <a:ln/>
        </p:spPr>
        <p:txBody>
          <a:bodyPr wrap="square" lIns="0" tIns="0" rIns="0" bIns="0" rtlCol="0" anchor="ctr"/>
          <a:lstStyle/>
          <a:p>
            <a:pPr algn="r" indent="0" marL="0">
              <a:buNone/>
            </a:pPr>
            <a:r>
              <a:rPr lang="en-US" sz="900" dirty="0">
                <a:solidFill>
                  <a:srgbClr val="6E7C86"/>
                </a:solidFill>
                <a:latin typeface="Calibri" pitchFamily="34" charset="0"/>
                <a:ea typeface="Calibri" pitchFamily="34" charset="-122"/>
                <a:cs typeface="Calibri" pitchFamily="34" charset="-120"/>
              </a:rPr>
              <a:t>03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150" b="1" spc="200" kern="0" dirty="0">
                <a:solidFill>
                  <a:srgbClr val="B0611C"/>
                </a:solidFill>
                <a:latin typeface="Calibri" pitchFamily="34" charset="0"/>
                <a:ea typeface="Calibri" pitchFamily="34" charset="-122"/>
                <a:cs typeface="Calibri" pitchFamily="34" charset="-120"/>
              </a:rPr>
              <a:t>DESEMPEÑO POR TIENDA</a:t>
            </a:r>
            <a:endParaRPr lang="en-US" sz="1150" dirty="0"/>
          </a:p>
        </p:txBody>
      </p:sp>
      <p:sp>
        <p:nvSpPr>
          <p:cNvPr id="3" name="Text 1"/>
          <p:cNvSpPr/>
          <p:nvPr/>
        </p:nvSpPr>
        <p:spPr>
          <a:xfrm>
            <a:off x="640080" y="777240"/>
            <a:ext cx="10881360" cy="731520"/>
          </a:xfrm>
          <a:prstGeom prst="rect">
            <a:avLst/>
          </a:prstGeom>
          <a:noFill/>
          <a:ln/>
        </p:spPr>
        <p:txBody>
          <a:bodyPr wrap="square" lIns="0" tIns="0" rIns="0" bIns="0" rtlCol="0" anchor="ctr"/>
          <a:lstStyle/>
          <a:p>
            <a:pPr indent="0" marL="0">
              <a:buNone/>
            </a:pPr>
            <a:r>
              <a:rPr lang="en-US" sz="2700" b="1" dirty="0">
                <a:solidFill>
                  <a:srgbClr val="1B2A36"/>
                </a:solidFill>
                <a:latin typeface="Cambria" pitchFamily="34" charset="0"/>
                <a:ea typeface="Cambria" pitchFamily="34" charset="-122"/>
                <a:cs typeface="Cambria" pitchFamily="34" charset="-120"/>
              </a:rPr>
              <a:t>Las de mayor y menor venta del mes</a:t>
            </a:r>
            <a:endParaRPr lang="en-US" sz="2700" dirty="0"/>
          </a:p>
        </p:txBody>
      </p:sp>
      <p:graphicFrame>
        <p:nvGraphicFramePr>
          <p:cNvPr id="4" name="Chart 0" descr=""/>
          <p:cNvGraphicFramePr/>
          <p:nvPr/>
        </p:nvGraphicFramePr>
        <p:xfrm>
          <a:off x="640080" y="1600200"/>
          <a:ext cx="1088136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1185855" y="6473952"/>
            <a:ext cx="731520" cy="274320"/>
          </a:xfrm>
          <a:prstGeom prst="rect">
            <a:avLst/>
          </a:prstGeom>
          <a:noFill/>
          <a:ln/>
        </p:spPr>
        <p:txBody>
          <a:bodyPr wrap="square" lIns="0" tIns="0" rIns="0" bIns="0" rtlCol="0" anchor="ctr"/>
          <a:lstStyle/>
          <a:p>
            <a:pPr algn="r" indent="0" marL="0">
              <a:buNone/>
            </a:pPr>
            <a:r>
              <a:rPr lang="en-US" sz="900" dirty="0">
                <a:solidFill>
                  <a:srgbClr val="6E7C86"/>
                </a:solidFill>
                <a:latin typeface="Calibri" pitchFamily="34" charset="0"/>
                <a:ea typeface="Calibri" pitchFamily="34" charset="-122"/>
                <a:cs typeface="Calibri" pitchFamily="34" charset="-120"/>
              </a:rPr>
              <a:t>04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150" b="1" spc="200" kern="0" dirty="0">
                <a:solidFill>
                  <a:srgbClr val="B0611C"/>
                </a:solidFill>
                <a:latin typeface="Calibri" pitchFamily="34" charset="0"/>
                <a:ea typeface="Calibri" pitchFamily="34" charset="-122"/>
                <a:cs typeface="Calibri" pitchFamily="34" charset="-120"/>
              </a:rPr>
              <a:t>MEZCLA DE VENTA</a:t>
            </a:r>
            <a:endParaRPr lang="en-US" sz="1150" dirty="0"/>
          </a:p>
        </p:txBody>
      </p:sp>
      <p:sp>
        <p:nvSpPr>
          <p:cNvPr id="3" name="Text 1"/>
          <p:cNvSpPr/>
          <p:nvPr/>
        </p:nvSpPr>
        <p:spPr>
          <a:xfrm>
            <a:off x="640080" y="777240"/>
            <a:ext cx="10881360" cy="731520"/>
          </a:xfrm>
          <a:prstGeom prst="rect">
            <a:avLst/>
          </a:prstGeom>
          <a:noFill/>
          <a:ln/>
        </p:spPr>
        <p:txBody>
          <a:bodyPr wrap="square" lIns="0" tIns="0" rIns="0" bIns="0" rtlCol="0" anchor="ctr"/>
          <a:lstStyle/>
          <a:p>
            <a:pPr indent="0" marL="0">
              <a:buNone/>
            </a:pPr>
            <a:r>
              <a:rPr lang="en-US" sz="2700" b="1" dirty="0">
                <a:solidFill>
                  <a:srgbClr val="1B2A36"/>
                </a:solidFill>
                <a:latin typeface="Cambria" pitchFamily="34" charset="0"/>
                <a:ea typeface="Cambria" pitchFamily="34" charset="-122"/>
                <a:cs typeface="Cambria" pitchFamily="34" charset="-120"/>
              </a:rPr>
              <a:t>Participación por categoría</a:t>
            </a:r>
            <a:endParaRPr lang="en-US" sz="2700" dirty="0"/>
          </a:p>
        </p:txBody>
      </p:sp>
      <p:graphicFrame>
        <p:nvGraphicFramePr>
          <p:cNvPr id="4" name="Chart 0" descr=""/>
          <p:cNvGraphicFramePr/>
          <p:nvPr/>
        </p:nvGraphicFramePr>
        <p:xfrm>
          <a:off x="640080" y="1417320"/>
          <a:ext cx="548640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92240" y="1737360"/>
            <a:ext cx="4846320" cy="3657600"/>
          </a:xfrm>
          <a:prstGeom prst="rect">
            <a:avLst/>
          </a:prstGeom>
          <a:noFill/>
          <a:ln/>
        </p:spPr>
        <p:txBody>
          <a:bodyPr wrap="square" lIns="0" tIns="0" rIns="0" bIns="0" rtlCol="0" anchor="ctr"/>
          <a:lstStyle/>
          <a:p>
            <a:pPr marL="342900" indent="-342900">
              <a:lnSpc>
                <a:spcPct val="190000"/>
              </a:lnSpc>
              <a:buSzPct val="100000"/>
              <a:buChar char="●"/>
            </a:pPr>
            <a:r>
              <a:rPr lang="en-US" sz="1400" dirty="0">
                <a:solidFill>
                  <a:srgbClr val="1B2A36"/>
                </a:solidFill>
                <a:latin typeface="Calibri" pitchFamily="34" charset="0"/>
                <a:ea typeface="Calibri" pitchFamily="34" charset="-122"/>
                <a:cs typeface="Calibri" pitchFamily="34" charset="-120"/>
              </a:rPr>
              <a:t>Bebidas — 26%</a:t>
            </a:r>
            <a:endParaRPr lang="en-US" sz="1400" dirty="0"/>
          </a:p>
          <a:p>
            <a:pPr marL="342900" indent="-342900">
              <a:lnSpc>
                <a:spcPct val="190000"/>
              </a:lnSpc>
              <a:buSzPct val="100000"/>
              <a:buChar char="●"/>
            </a:pPr>
            <a:r>
              <a:rPr lang="en-US" sz="1400" dirty="0">
                <a:solidFill>
                  <a:srgbClr val="1B2A36"/>
                </a:solidFill>
                <a:latin typeface="Calibri" pitchFamily="34" charset="0"/>
                <a:ea typeface="Calibri" pitchFamily="34" charset="-122"/>
                <a:cs typeface="Calibri" pitchFamily="34" charset="-120"/>
              </a:rPr>
              <a:t>Cerveza y Vinos — 14%</a:t>
            </a:r>
            <a:endParaRPr lang="en-US" sz="1400" dirty="0"/>
          </a:p>
          <a:p>
            <a:pPr marL="342900" indent="-342900">
              <a:lnSpc>
                <a:spcPct val="190000"/>
              </a:lnSpc>
              <a:buSzPct val="100000"/>
              <a:buChar char="●"/>
            </a:pPr>
            <a:r>
              <a:rPr lang="en-US" sz="1400" dirty="0">
                <a:solidFill>
                  <a:srgbClr val="1B2A36"/>
                </a:solidFill>
                <a:latin typeface="Calibri" pitchFamily="34" charset="0"/>
                <a:ea typeface="Calibri" pitchFamily="34" charset="-122"/>
                <a:cs typeface="Calibri" pitchFamily="34" charset="-120"/>
              </a:rPr>
              <a:t>Botanas — 11%</a:t>
            </a:r>
            <a:endParaRPr lang="en-US" sz="1400" dirty="0"/>
          </a:p>
          <a:p>
            <a:pPr marL="342900" indent="-342900">
              <a:lnSpc>
                <a:spcPct val="190000"/>
              </a:lnSpc>
              <a:buSzPct val="100000"/>
              <a:buChar char="●"/>
            </a:pPr>
            <a:r>
              <a:rPr lang="en-US" sz="1400" dirty="0">
                <a:solidFill>
                  <a:srgbClr val="1B2A36"/>
                </a:solidFill>
                <a:latin typeface="Calibri" pitchFamily="34" charset="0"/>
                <a:ea typeface="Calibri" pitchFamily="34" charset="-122"/>
                <a:cs typeface="Calibri" pitchFamily="34" charset="-120"/>
              </a:rPr>
              <a:t>Alimentos Preparados — 9%</a:t>
            </a:r>
            <a:endParaRPr lang="en-US" sz="1400" dirty="0"/>
          </a:p>
          <a:p>
            <a:pPr marL="342900" indent="-342900">
              <a:lnSpc>
                <a:spcPct val="190000"/>
              </a:lnSpc>
              <a:buSzPct val="100000"/>
              <a:buChar char="●"/>
            </a:pPr>
            <a:r>
              <a:rPr lang="en-US" sz="1400" dirty="0">
                <a:solidFill>
                  <a:srgbClr val="1B2A36"/>
                </a:solidFill>
                <a:latin typeface="Calibri" pitchFamily="34" charset="0"/>
                <a:ea typeface="Calibri" pitchFamily="34" charset="-122"/>
                <a:cs typeface="Calibri" pitchFamily="34" charset="-120"/>
              </a:rPr>
              <a:t>Cigarros — 8%</a:t>
            </a:r>
            <a:endParaRPr lang="en-US" sz="1400" dirty="0"/>
          </a:p>
          <a:p>
            <a:pPr marL="342900" indent="-342900">
              <a:lnSpc>
                <a:spcPct val="190000"/>
              </a:lnSpc>
              <a:buSzPct val="100000"/>
              <a:buChar char="●"/>
            </a:pPr>
            <a:r>
              <a:rPr lang="en-US" sz="1400" dirty="0">
                <a:solidFill>
                  <a:srgbClr val="1B2A36"/>
                </a:solidFill>
                <a:latin typeface="Calibri" pitchFamily="34" charset="0"/>
                <a:ea typeface="Calibri" pitchFamily="34" charset="-122"/>
                <a:cs typeface="Calibri" pitchFamily="34" charset="-120"/>
              </a:rPr>
              <a:t>Abarrotes — 6%</a:t>
            </a:r>
            <a:endParaRPr lang="en-US" sz="1400" dirty="0"/>
          </a:p>
          <a:p>
            <a:pPr marL="342900" indent="-342900">
              <a:lnSpc>
                <a:spcPct val="190000"/>
              </a:lnSpc>
              <a:buSzPct val="100000"/>
              <a:buChar char="●"/>
            </a:pPr>
            <a:r>
              <a:rPr lang="en-US" sz="1400" dirty="0">
                <a:solidFill>
                  <a:srgbClr val="1B2A36"/>
                </a:solidFill>
                <a:latin typeface="Calibri" pitchFamily="34" charset="0"/>
                <a:ea typeface="Calibri" pitchFamily="34" charset="-122"/>
                <a:cs typeface="Calibri" pitchFamily="34" charset="-120"/>
              </a:rPr>
              <a:t>Otras — 26%</a:t>
            </a:r>
            <a:endParaRPr lang="en-US" sz="1400" dirty="0"/>
          </a:p>
        </p:txBody>
      </p:sp>
      <p:sp>
        <p:nvSpPr>
          <p:cNvPr id="6" name="Text 3"/>
          <p:cNvSpPr/>
          <p:nvPr/>
        </p:nvSpPr>
        <p:spPr>
          <a:xfrm>
            <a:off x="11185855" y="6473952"/>
            <a:ext cx="731520" cy="274320"/>
          </a:xfrm>
          <a:prstGeom prst="rect">
            <a:avLst/>
          </a:prstGeom>
          <a:noFill/>
          <a:ln/>
        </p:spPr>
        <p:txBody>
          <a:bodyPr wrap="square" lIns="0" tIns="0" rIns="0" bIns="0" rtlCol="0" anchor="ctr"/>
          <a:lstStyle/>
          <a:p>
            <a:pPr algn="r" indent="0" marL="0">
              <a:buNone/>
            </a:pPr>
            <a:r>
              <a:rPr lang="en-US" sz="900" dirty="0">
                <a:solidFill>
                  <a:srgbClr val="6E7C86"/>
                </a:solidFill>
                <a:latin typeface="Calibri" pitchFamily="34" charset="0"/>
                <a:ea typeface="Calibri" pitchFamily="34" charset="-122"/>
                <a:cs typeface="Calibri" pitchFamily="34" charset="-120"/>
              </a:rPr>
              <a:t>05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150" b="1" spc="200" kern="0" dirty="0">
                <a:solidFill>
                  <a:srgbClr val="B0611C"/>
                </a:solidFill>
                <a:latin typeface="Calibri" pitchFamily="34" charset="0"/>
                <a:ea typeface="Calibri" pitchFamily="34" charset="-122"/>
                <a:cs typeface="Calibri" pitchFamily="34" charset="-120"/>
              </a:rPr>
              <a:t>COMPARABILIDAD</a:t>
            </a:r>
            <a:endParaRPr lang="en-US" sz="1150" dirty="0"/>
          </a:p>
        </p:txBody>
      </p:sp>
      <p:sp>
        <p:nvSpPr>
          <p:cNvPr id="3" name="Text 1"/>
          <p:cNvSpPr/>
          <p:nvPr/>
        </p:nvSpPr>
        <p:spPr>
          <a:xfrm>
            <a:off x="640080" y="777240"/>
            <a:ext cx="10881360" cy="731520"/>
          </a:xfrm>
          <a:prstGeom prst="rect">
            <a:avLst/>
          </a:prstGeom>
          <a:noFill/>
          <a:ln/>
        </p:spPr>
        <p:txBody>
          <a:bodyPr wrap="square" lIns="0" tIns="0" rIns="0" bIns="0" rtlCol="0" anchor="ctr"/>
          <a:lstStyle/>
          <a:p>
            <a:pPr indent="0" marL="0">
              <a:buNone/>
            </a:pPr>
            <a:r>
              <a:rPr lang="en-US" sz="2700" b="1" dirty="0">
                <a:solidFill>
                  <a:srgbClr val="1B2A36"/>
                </a:solidFill>
                <a:latin typeface="Cambria" pitchFamily="34" charset="0"/>
                <a:ea typeface="Cambria" pitchFamily="34" charset="-122"/>
                <a:cs typeface="Cambria" pitchFamily="34" charset="-120"/>
              </a:rPr>
              <a:t>El crecimiento no depende solo de tiendas nuevas</a:t>
            </a:r>
            <a:endParaRPr lang="en-US" sz="2700" dirty="0"/>
          </a:p>
        </p:txBody>
      </p:sp>
      <p:sp>
        <p:nvSpPr>
          <p:cNvPr id="4" name="Text 2"/>
          <p:cNvSpPr/>
          <p:nvPr/>
        </p:nvSpPr>
        <p:spPr>
          <a:xfrm>
            <a:off x="640080" y="1737360"/>
            <a:ext cx="4937760" cy="1188720"/>
          </a:xfrm>
          <a:prstGeom prst="rect">
            <a:avLst/>
          </a:prstGeom>
          <a:noFill/>
          <a:ln/>
        </p:spPr>
        <p:txBody>
          <a:bodyPr wrap="square" lIns="0" tIns="0" rIns="0" bIns="0" rtlCol="0" anchor="ctr"/>
          <a:lstStyle/>
          <a:p>
            <a:pPr algn="l" indent="0" marL="0">
              <a:buNone/>
            </a:pPr>
            <a:r>
              <a:rPr lang="en-US" sz="6400" b="1" dirty="0">
                <a:solidFill>
                  <a:srgbClr val="1B2A36"/>
                </a:solidFill>
                <a:latin typeface="Cambria" pitchFamily="34" charset="0"/>
                <a:ea typeface="Cambria" pitchFamily="34" charset="-122"/>
                <a:cs typeface="Cambria" pitchFamily="34" charset="-120"/>
              </a:rPr>
              <a:t>+9.5%</a:t>
            </a:r>
            <a:endParaRPr lang="en-US" sz="6400" dirty="0"/>
          </a:p>
        </p:txBody>
      </p:sp>
      <p:sp>
        <p:nvSpPr>
          <p:cNvPr id="5" name="Text 3"/>
          <p:cNvSpPr/>
          <p:nvPr/>
        </p:nvSpPr>
        <p:spPr>
          <a:xfrm>
            <a:off x="640080" y="2788920"/>
            <a:ext cx="4937760" cy="502920"/>
          </a:xfrm>
          <a:prstGeom prst="rect">
            <a:avLst/>
          </a:prstGeom>
          <a:noFill/>
          <a:ln/>
        </p:spPr>
        <p:txBody>
          <a:bodyPr wrap="square" lIns="0" tIns="0" rIns="0" bIns="0" rtlCol="0" anchor="ctr"/>
          <a:lstStyle/>
          <a:p>
            <a:pPr indent="0" marL="0">
              <a:lnSpc>
                <a:spcPct val="120000"/>
              </a:lnSpc>
              <a:buNone/>
            </a:pPr>
            <a:r>
              <a:rPr lang="en-US" sz="1250" dirty="0">
                <a:solidFill>
                  <a:srgbClr val="6E7C86"/>
                </a:solidFill>
                <a:latin typeface="Calibri" pitchFamily="34" charset="0"/>
                <a:ea typeface="Calibri" pitchFamily="34" charset="-122"/>
                <a:cs typeface="Calibri" pitchFamily="34" charset="-120"/>
              </a:rPr>
              <a:t>Crecimiento de venta total contra el año anterior</a:t>
            </a:r>
            <a:endParaRPr lang="en-US" sz="1250" dirty="0"/>
          </a:p>
        </p:txBody>
      </p:sp>
      <p:sp>
        <p:nvSpPr>
          <p:cNvPr id="6" name="Text 4"/>
          <p:cNvSpPr/>
          <p:nvPr/>
        </p:nvSpPr>
        <p:spPr>
          <a:xfrm>
            <a:off x="640080" y="3429000"/>
            <a:ext cx="4937760" cy="1188720"/>
          </a:xfrm>
          <a:prstGeom prst="rect">
            <a:avLst/>
          </a:prstGeom>
          <a:noFill/>
          <a:ln/>
        </p:spPr>
        <p:txBody>
          <a:bodyPr wrap="square" lIns="0" tIns="0" rIns="0" bIns="0" rtlCol="0" anchor="ctr"/>
          <a:lstStyle/>
          <a:p>
            <a:pPr algn="l" indent="0" marL="0">
              <a:buNone/>
            </a:pPr>
            <a:r>
              <a:rPr lang="en-US" sz="6400" b="1" dirty="0">
                <a:solidFill>
                  <a:srgbClr val="B0611C"/>
                </a:solidFill>
                <a:latin typeface="Cambria" pitchFamily="34" charset="0"/>
                <a:ea typeface="Cambria" pitchFamily="34" charset="-122"/>
                <a:cs typeface="Cambria" pitchFamily="34" charset="-120"/>
              </a:rPr>
              <a:t>+2.0%</a:t>
            </a:r>
            <a:endParaRPr lang="en-US" sz="6400" dirty="0"/>
          </a:p>
        </p:txBody>
      </p:sp>
      <p:sp>
        <p:nvSpPr>
          <p:cNvPr id="7" name="Text 5"/>
          <p:cNvSpPr/>
          <p:nvPr/>
        </p:nvSpPr>
        <p:spPr>
          <a:xfrm>
            <a:off x="640080" y="4480560"/>
            <a:ext cx="4937760" cy="502920"/>
          </a:xfrm>
          <a:prstGeom prst="rect">
            <a:avLst/>
          </a:prstGeom>
          <a:noFill/>
          <a:ln/>
        </p:spPr>
        <p:txBody>
          <a:bodyPr wrap="square" lIns="0" tIns="0" rIns="0" bIns="0" rtlCol="0" anchor="ctr"/>
          <a:lstStyle/>
          <a:p>
            <a:pPr indent="0" marL="0">
              <a:lnSpc>
                <a:spcPct val="120000"/>
              </a:lnSpc>
              <a:buNone/>
            </a:pPr>
            <a:r>
              <a:rPr lang="en-US" sz="1250" dirty="0">
                <a:solidFill>
                  <a:srgbClr val="6E7C86"/>
                </a:solidFill>
                <a:latin typeface="Calibri" pitchFamily="34" charset="0"/>
                <a:ea typeface="Calibri" pitchFamily="34" charset="-122"/>
                <a:cs typeface="Calibri" pitchFamily="34" charset="-120"/>
              </a:rPr>
              <a:t>Crecimiento de venta en mismas tiendas (8 tiendas comparables, abiertas hace más de un año)</a:t>
            </a:r>
            <a:endParaRPr lang="en-US" sz="1250" dirty="0"/>
          </a:p>
        </p:txBody>
      </p:sp>
      <p:sp>
        <p:nvSpPr>
          <p:cNvPr id="8" name="Shape 6"/>
          <p:cNvSpPr/>
          <p:nvPr/>
        </p:nvSpPr>
        <p:spPr>
          <a:xfrm>
            <a:off x="5989320" y="1737360"/>
            <a:ext cx="0" cy="3474720"/>
          </a:xfrm>
          <a:prstGeom prst="line">
            <a:avLst/>
          </a:prstGeom>
          <a:noFill/>
          <a:ln w="12700">
            <a:solidFill>
              <a:srgbClr val="E2DED5"/>
            </a:solidFill>
            <a:prstDash val="solid"/>
          </a:ln>
        </p:spPr>
      </p:sp>
      <p:sp>
        <p:nvSpPr>
          <p:cNvPr id="9" name="Text 7"/>
          <p:cNvSpPr/>
          <p:nvPr/>
        </p:nvSpPr>
        <p:spPr>
          <a:xfrm>
            <a:off x="6355080" y="1783080"/>
            <a:ext cx="5120640" cy="365760"/>
          </a:xfrm>
          <a:prstGeom prst="rect">
            <a:avLst/>
          </a:prstGeom>
          <a:noFill/>
          <a:ln/>
        </p:spPr>
        <p:txBody>
          <a:bodyPr wrap="square" lIns="0" tIns="0" rIns="0" bIns="0" rtlCol="0" anchor="ctr"/>
          <a:lstStyle/>
          <a:p>
            <a:pPr indent="0" marL="0">
              <a:buNone/>
            </a:pPr>
            <a:r>
              <a:rPr lang="en-US" sz="1300" b="1" dirty="0">
                <a:solidFill>
                  <a:srgbClr val="1B2A36"/>
                </a:solidFill>
                <a:latin typeface="Calibri" pitchFamily="34" charset="0"/>
                <a:ea typeface="Calibri" pitchFamily="34" charset="-122"/>
                <a:cs typeface="Calibri" pitchFamily="34" charset="-120"/>
              </a:rPr>
              <a:t>Qué significa esto</a:t>
            </a:r>
            <a:endParaRPr lang="en-US" sz="1300" dirty="0"/>
          </a:p>
        </p:txBody>
      </p:sp>
      <p:sp>
        <p:nvSpPr>
          <p:cNvPr id="10" name="Text 8"/>
          <p:cNvSpPr/>
          <p:nvPr/>
        </p:nvSpPr>
        <p:spPr>
          <a:xfrm>
            <a:off x="6355080" y="2194560"/>
            <a:ext cx="5074920" cy="2377440"/>
          </a:xfrm>
          <a:prstGeom prst="rect">
            <a:avLst/>
          </a:prstGeom>
          <a:noFill/>
          <a:ln/>
        </p:spPr>
        <p:txBody>
          <a:bodyPr wrap="square" lIns="0" tIns="0" rIns="0" bIns="0" rtlCol="0" anchor="ctr"/>
          <a:lstStyle/>
          <a:p>
            <a:pPr indent="0" marL="0">
              <a:lnSpc>
                <a:spcPct val="130000"/>
              </a:lnSpc>
              <a:buNone/>
            </a:pPr>
            <a:r>
              <a:rPr lang="en-US" sz="1250" dirty="0">
                <a:solidFill>
                  <a:srgbClr val="6E7C86"/>
                </a:solidFill>
                <a:latin typeface="Calibri" pitchFamily="34" charset="0"/>
                <a:ea typeface="Calibri" pitchFamily="34" charset="-122"/>
                <a:cs typeface="Calibri" pitchFamily="34" charset="-120"/>
              </a:rPr>
              <a:t>Casi todo el crecimiento del mes viene de las dos tiendas que abrieron en 2025, no de que las tiendas existentes vendan más. Es una diferencia importante para decidir dónde enfocar el siguiente esfuerzo comercial: expansión sigue funcionando, la base instalada necesita atención.</a:t>
            </a:r>
            <a:endParaRPr lang="en-US" sz="1250" dirty="0"/>
          </a:p>
        </p:txBody>
      </p:sp>
      <p:sp>
        <p:nvSpPr>
          <p:cNvPr id="11" name="Text 9"/>
          <p:cNvSpPr/>
          <p:nvPr/>
        </p:nvSpPr>
        <p:spPr>
          <a:xfrm>
            <a:off x="11185855" y="6473952"/>
            <a:ext cx="731520" cy="274320"/>
          </a:xfrm>
          <a:prstGeom prst="rect">
            <a:avLst/>
          </a:prstGeom>
          <a:noFill/>
          <a:ln/>
        </p:spPr>
        <p:txBody>
          <a:bodyPr wrap="square" lIns="0" tIns="0" rIns="0" bIns="0" rtlCol="0" anchor="ctr"/>
          <a:lstStyle/>
          <a:p>
            <a:pPr algn="r" indent="0" marL="0">
              <a:buNone/>
            </a:pPr>
            <a:r>
              <a:rPr lang="en-US" sz="900" dirty="0">
                <a:solidFill>
                  <a:srgbClr val="6E7C86"/>
                </a:solidFill>
                <a:latin typeface="Calibri" pitchFamily="34" charset="0"/>
                <a:ea typeface="Calibri" pitchFamily="34" charset="-122"/>
                <a:cs typeface="Calibri" pitchFamily="34" charset="-120"/>
              </a:rPr>
              <a:t>06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150" b="1" spc="200" kern="0" dirty="0">
                <a:solidFill>
                  <a:srgbClr val="B0611C"/>
                </a:solidFill>
                <a:latin typeface="Calibri" pitchFamily="34" charset="0"/>
                <a:ea typeface="Calibri" pitchFamily="34" charset="-122"/>
                <a:cs typeface="Calibri" pitchFamily="34" charset="-120"/>
              </a:rPr>
              <a:t>HALLAZGOS DEL MES</a:t>
            </a:r>
            <a:endParaRPr lang="en-US" sz="1150" dirty="0"/>
          </a:p>
        </p:txBody>
      </p:sp>
      <p:sp>
        <p:nvSpPr>
          <p:cNvPr id="3" name="Text 1"/>
          <p:cNvSpPr/>
          <p:nvPr/>
        </p:nvSpPr>
        <p:spPr>
          <a:xfrm>
            <a:off x="640080" y="777240"/>
            <a:ext cx="10881360" cy="731520"/>
          </a:xfrm>
          <a:prstGeom prst="rect">
            <a:avLst/>
          </a:prstGeom>
          <a:noFill/>
          <a:ln/>
        </p:spPr>
        <p:txBody>
          <a:bodyPr wrap="square" lIns="0" tIns="0" rIns="0" bIns="0" rtlCol="0" anchor="ctr"/>
          <a:lstStyle/>
          <a:p>
            <a:pPr indent="0" marL="0">
              <a:buNone/>
            </a:pPr>
            <a:r>
              <a:rPr lang="en-US" sz="2700" b="1" dirty="0">
                <a:solidFill>
                  <a:srgbClr val="1B2A36"/>
                </a:solidFill>
                <a:latin typeface="Cambria" pitchFamily="34" charset="0"/>
                <a:ea typeface="Cambria" pitchFamily="34" charset="-122"/>
                <a:cs typeface="Cambria" pitchFamily="34" charset="-120"/>
              </a:rPr>
              <a:t>Tres cosas que vale la pena saber</a:t>
            </a:r>
            <a:endParaRPr lang="en-US" sz="2700" dirty="0"/>
          </a:p>
        </p:txBody>
      </p:sp>
      <p:sp>
        <p:nvSpPr>
          <p:cNvPr id="4" name="Shape 2"/>
          <p:cNvSpPr/>
          <p:nvPr/>
        </p:nvSpPr>
        <p:spPr>
          <a:xfrm>
            <a:off x="640080" y="1783080"/>
            <a:ext cx="457200" cy="457200"/>
          </a:xfrm>
          <a:prstGeom prst="ellipse">
            <a:avLst/>
          </a:prstGeom>
          <a:solidFill>
            <a:srgbClr val="F5F3EE"/>
          </a:solidFill>
          <a:ln/>
        </p:spPr>
      </p:sp>
      <p:pic>
        <p:nvPicPr>
          <p:cNvPr id="5" name="Image 0" descr="/home/claude/pptx_kit/icons/trending_up__accent.png">    </p:cNvPr>
          <p:cNvPicPr>
            <a:picLocks noChangeAspect="1"/>
          </p:cNvPicPr>
          <p:nvPr/>
        </p:nvPicPr>
        <p:blipFill>
          <a:blip r:embed="rId1"/>
          <a:stretch>
            <a:fillRect/>
          </a:stretch>
        </p:blipFill>
        <p:spPr>
          <a:xfrm>
            <a:off x="740664" y="1883664"/>
            <a:ext cx="256032" cy="256032"/>
          </a:xfrm>
          <a:prstGeom prst="rect">
            <a:avLst/>
          </a:prstGeom>
        </p:spPr>
      </p:pic>
      <p:sp>
        <p:nvSpPr>
          <p:cNvPr id="6" name="Text 3"/>
          <p:cNvSpPr/>
          <p:nvPr/>
        </p:nvSpPr>
        <p:spPr>
          <a:xfrm>
            <a:off x="1261872" y="1746504"/>
            <a:ext cx="9985248" cy="310896"/>
          </a:xfrm>
          <a:prstGeom prst="rect">
            <a:avLst/>
          </a:prstGeom>
          <a:noFill/>
          <a:ln/>
        </p:spPr>
        <p:txBody>
          <a:bodyPr wrap="square" lIns="0" tIns="0" rIns="0" bIns="0" rtlCol="0" anchor="ctr"/>
          <a:lstStyle/>
          <a:p>
            <a:pPr indent="0" marL="0">
              <a:buNone/>
            </a:pPr>
            <a:r>
              <a:rPr lang="en-US" sz="1350" b="1" dirty="0">
                <a:solidFill>
                  <a:srgbClr val="1B2A36"/>
                </a:solidFill>
                <a:latin typeface="Calibri" pitchFamily="34" charset="0"/>
                <a:ea typeface="Calibri" pitchFamily="34" charset="-122"/>
                <a:cs typeface="Calibri" pitchFamily="34" charset="-120"/>
              </a:rPr>
              <a:t>El ticket promedio subió por unidades, no por precio</a:t>
            </a:r>
            <a:endParaRPr lang="en-US" sz="1350" dirty="0"/>
          </a:p>
        </p:txBody>
      </p:sp>
      <p:sp>
        <p:nvSpPr>
          <p:cNvPr id="7" name="Text 4"/>
          <p:cNvSpPr/>
          <p:nvPr/>
        </p:nvSpPr>
        <p:spPr>
          <a:xfrm>
            <a:off x="1261872" y="2039112"/>
            <a:ext cx="9985248" cy="566928"/>
          </a:xfrm>
          <a:prstGeom prst="rect">
            <a:avLst/>
          </a:prstGeom>
          <a:noFill/>
          <a:ln/>
        </p:spPr>
        <p:txBody>
          <a:bodyPr wrap="square" lIns="0" tIns="0" rIns="0" bIns="0" rtlCol="0" anchor="ctr"/>
          <a:lstStyle/>
          <a:p>
            <a:pPr indent="0" marL="0">
              <a:lnSpc>
                <a:spcPct val="115000"/>
              </a:lnSpc>
              <a:buNone/>
            </a:pPr>
            <a:r>
              <a:rPr lang="en-US" sz="1100" dirty="0">
                <a:solidFill>
                  <a:srgbClr val="6E7C86"/>
                </a:solidFill>
                <a:latin typeface="Calibri" pitchFamily="34" charset="0"/>
                <a:ea typeface="Calibri" pitchFamily="34" charset="-122"/>
                <a:cs typeface="Calibri" pitchFamily="34" charset="-120"/>
              </a:rPr>
              <a:t>Unidades por ticket pasó de 2.24 a 2.33 en el año; el precio promedio se mantuvo casi plano. La canasta crece, no el margen unitario.</a:t>
            </a:r>
            <a:endParaRPr lang="en-US" sz="1100" dirty="0"/>
          </a:p>
        </p:txBody>
      </p:sp>
      <p:sp>
        <p:nvSpPr>
          <p:cNvPr id="8" name="Shape 5"/>
          <p:cNvSpPr/>
          <p:nvPr/>
        </p:nvSpPr>
        <p:spPr>
          <a:xfrm>
            <a:off x="640080" y="3017520"/>
            <a:ext cx="457200" cy="457200"/>
          </a:xfrm>
          <a:prstGeom prst="ellipse">
            <a:avLst/>
          </a:prstGeom>
          <a:solidFill>
            <a:srgbClr val="F5F3EE"/>
          </a:solidFill>
          <a:ln/>
        </p:spPr>
      </p:sp>
      <p:pic>
        <p:nvPicPr>
          <p:cNvPr id="9" name="Image 1" descr="/home/claude/pptx_kit/icons/map_pin__accent.png">    </p:cNvPr>
          <p:cNvPicPr>
            <a:picLocks noChangeAspect="1"/>
          </p:cNvPicPr>
          <p:nvPr/>
        </p:nvPicPr>
        <p:blipFill>
          <a:blip r:embed="rId2"/>
          <a:stretch>
            <a:fillRect/>
          </a:stretch>
        </p:blipFill>
        <p:spPr>
          <a:xfrm>
            <a:off x="740664" y="3118104"/>
            <a:ext cx="256032" cy="256032"/>
          </a:xfrm>
          <a:prstGeom prst="rect">
            <a:avLst/>
          </a:prstGeom>
        </p:spPr>
      </p:pic>
      <p:sp>
        <p:nvSpPr>
          <p:cNvPr id="10" name="Text 6"/>
          <p:cNvSpPr/>
          <p:nvPr/>
        </p:nvSpPr>
        <p:spPr>
          <a:xfrm>
            <a:off x="1261872" y="2980944"/>
            <a:ext cx="9985248" cy="310896"/>
          </a:xfrm>
          <a:prstGeom prst="rect">
            <a:avLst/>
          </a:prstGeom>
          <a:noFill/>
          <a:ln/>
        </p:spPr>
        <p:txBody>
          <a:bodyPr wrap="square" lIns="0" tIns="0" rIns="0" bIns="0" rtlCol="0" anchor="ctr"/>
          <a:lstStyle/>
          <a:p>
            <a:pPr indent="0" marL="0">
              <a:buNone/>
            </a:pPr>
            <a:r>
              <a:rPr lang="en-US" sz="1350" b="1" dirty="0">
                <a:solidFill>
                  <a:srgbClr val="1B2A36"/>
                </a:solidFill>
                <a:latin typeface="Calibri" pitchFamily="34" charset="0"/>
                <a:ea typeface="Calibri" pitchFamily="34" charset="-122"/>
                <a:cs typeface="Calibri" pitchFamily="34" charset="-120"/>
              </a:rPr>
              <a:t>La concentración regional aumentó</a:t>
            </a:r>
            <a:endParaRPr lang="en-US" sz="1350" dirty="0"/>
          </a:p>
        </p:txBody>
      </p:sp>
      <p:sp>
        <p:nvSpPr>
          <p:cNvPr id="11" name="Text 7"/>
          <p:cNvSpPr/>
          <p:nvPr/>
        </p:nvSpPr>
        <p:spPr>
          <a:xfrm>
            <a:off x="1261872" y="3273552"/>
            <a:ext cx="9985248" cy="566928"/>
          </a:xfrm>
          <a:prstGeom prst="rect">
            <a:avLst/>
          </a:prstGeom>
          <a:noFill/>
          <a:ln/>
        </p:spPr>
        <p:txBody>
          <a:bodyPr wrap="square" lIns="0" tIns="0" rIns="0" bIns="0" rtlCol="0" anchor="ctr"/>
          <a:lstStyle/>
          <a:p>
            <a:pPr indent="0" marL="0">
              <a:lnSpc>
                <a:spcPct val="115000"/>
              </a:lnSpc>
              <a:buNone/>
            </a:pPr>
            <a:r>
              <a:rPr lang="en-US" sz="1100" dirty="0">
                <a:solidFill>
                  <a:srgbClr val="6E7C86"/>
                </a:solidFill>
                <a:latin typeface="Calibri" pitchFamily="34" charset="0"/>
                <a:ea typeface="Calibri" pitchFamily="34" charset="-122"/>
                <a:cs typeface="Calibri" pitchFamily="34" charset="-120"/>
              </a:rPr>
              <a:t>El Noreste explica el 82% de la venta total del mes, dos puntos más que el trimestre anterior. Vale la pena revisar el avance en otras regiones.</a:t>
            </a:r>
            <a:endParaRPr lang="en-US" sz="1100" dirty="0"/>
          </a:p>
        </p:txBody>
      </p:sp>
      <p:sp>
        <p:nvSpPr>
          <p:cNvPr id="12" name="Shape 8"/>
          <p:cNvSpPr/>
          <p:nvPr/>
        </p:nvSpPr>
        <p:spPr>
          <a:xfrm>
            <a:off x="640080" y="4251960"/>
            <a:ext cx="457200" cy="457200"/>
          </a:xfrm>
          <a:prstGeom prst="ellipse">
            <a:avLst/>
          </a:prstGeom>
          <a:solidFill>
            <a:srgbClr val="F5F3EE"/>
          </a:solidFill>
          <a:ln/>
        </p:spPr>
      </p:sp>
      <p:pic>
        <p:nvPicPr>
          <p:cNvPr id="13" name="Image 2" descr="/home/claude/pptx_kit/icons/alert__accent.png">    </p:cNvPr>
          <p:cNvPicPr>
            <a:picLocks noChangeAspect="1"/>
          </p:cNvPicPr>
          <p:nvPr/>
        </p:nvPicPr>
        <p:blipFill>
          <a:blip r:embed="rId3"/>
          <a:stretch>
            <a:fillRect/>
          </a:stretch>
        </p:blipFill>
        <p:spPr>
          <a:xfrm>
            <a:off x="740664" y="4352544"/>
            <a:ext cx="256032" cy="256032"/>
          </a:xfrm>
          <a:prstGeom prst="rect">
            <a:avLst/>
          </a:prstGeom>
        </p:spPr>
      </p:pic>
      <p:sp>
        <p:nvSpPr>
          <p:cNvPr id="14" name="Text 9"/>
          <p:cNvSpPr/>
          <p:nvPr/>
        </p:nvSpPr>
        <p:spPr>
          <a:xfrm>
            <a:off x="1261872" y="4215384"/>
            <a:ext cx="9985248" cy="310896"/>
          </a:xfrm>
          <a:prstGeom prst="rect">
            <a:avLst/>
          </a:prstGeom>
          <a:noFill/>
          <a:ln/>
        </p:spPr>
        <p:txBody>
          <a:bodyPr wrap="square" lIns="0" tIns="0" rIns="0" bIns="0" rtlCol="0" anchor="ctr"/>
          <a:lstStyle/>
          <a:p>
            <a:pPr indent="0" marL="0">
              <a:buNone/>
            </a:pPr>
            <a:r>
              <a:rPr lang="en-US" sz="1350" b="1" dirty="0">
                <a:solidFill>
                  <a:srgbClr val="1B2A36"/>
                </a:solidFill>
                <a:latin typeface="Calibri" pitchFamily="34" charset="0"/>
                <a:ea typeface="Calibri" pitchFamily="34" charset="-122"/>
                <a:cs typeface="Calibri" pitchFamily="34" charset="-120"/>
              </a:rPr>
              <a:t>Dos tiendas están cinco puntos bajo su meta</a:t>
            </a:r>
            <a:endParaRPr lang="en-US" sz="1350" dirty="0"/>
          </a:p>
        </p:txBody>
      </p:sp>
      <p:sp>
        <p:nvSpPr>
          <p:cNvPr id="15" name="Text 10"/>
          <p:cNvSpPr/>
          <p:nvPr/>
        </p:nvSpPr>
        <p:spPr>
          <a:xfrm>
            <a:off x="1261872" y="4507992"/>
            <a:ext cx="9985248" cy="566928"/>
          </a:xfrm>
          <a:prstGeom prst="rect">
            <a:avLst/>
          </a:prstGeom>
          <a:noFill/>
          <a:ln/>
        </p:spPr>
        <p:txBody>
          <a:bodyPr wrap="square" lIns="0" tIns="0" rIns="0" bIns="0" rtlCol="0" anchor="ctr"/>
          <a:lstStyle/>
          <a:p>
            <a:pPr indent="0" marL="0">
              <a:lnSpc>
                <a:spcPct val="115000"/>
              </a:lnSpc>
              <a:buNone/>
            </a:pPr>
            <a:r>
              <a:rPr lang="en-US" sz="1100" dirty="0">
                <a:solidFill>
                  <a:srgbClr val="6E7C86"/>
                </a:solidFill>
                <a:latin typeface="Calibri" pitchFamily="34" charset="0"/>
                <a:ea typeface="Calibri" pitchFamily="34" charset="-122"/>
                <a:cs typeface="Calibri" pitchFamily="34" charset="-120"/>
              </a:rPr>
              <a:t>Santa Catarina Sur y Nogalar acumulan tres meses seguidos de incumplimiento. Están marcadas para revisión operativa esta semana.</a:t>
            </a:r>
            <a:endParaRPr lang="en-US" sz="1100" dirty="0"/>
          </a:p>
        </p:txBody>
      </p:sp>
      <p:sp>
        <p:nvSpPr>
          <p:cNvPr id="16" name="Text 11"/>
          <p:cNvSpPr/>
          <p:nvPr/>
        </p:nvSpPr>
        <p:spPr>
          <a:xfrm>
            <a:off x="11185855" y="6473952"/>
            <a:ext cx="731520" cy="274320"/>
          </a:xfrm>
          <a:prstGeom prst="rect">
            <a:avLst/>
          </a:prstGeom>
          <a:noFill/>
          <a:ln/>
        </p:spPr>
        <p:txBody>
          <a:bodyPr wrap="square" lIns="0" tIns="0" rIns="0" bIns="0" rtlCol="0" anchor="ctr"/>
          <a:lstStyle/>
          <a:p>
            <a:pPr algn="r" indent="0" marL="0">
              <a:buNone/>
            </a:pPr>
            <a:r>
              <a:rPr lang="en-US" sz="900" dirty="0">
                <a:solidFill>
                  <a:srgbClr val="6E7C86"/>
                </a:solidFill>
                <a:latin typeface="Calibri" pitchFamily="34" charset="0"/>
                <a:ea typeface="Calibri" pitchFamily="34" charset="-122"/>
                <a:cs typeface="Calibri" pitchFamily="34" charset="-120"/>
              </a:rPr>
              <a:t>07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150" b="1" spc="200" kern="0" dirty="0">
                <a:solidFill>
                  <a:srgbClr val="B0611C"/>
                </a:solidFill>
                <a:latin typeface="Calibri" pitchFamily="34" charset="0"/>
                <a:ea typeface="Calibri" pitchFamily="34" charset="-122"/>
                <a:cs typeface="Calibri" pitchFamily="34" charset="-120"/>
              </a:rPr>
              <a:t>ATENCIÓN REQUERIDA</a:t>
            </a:r>
            <a:endParaRPr lang="en-US" sz="1150" dirty="0"/>
          </a:p>
        </p:txBody>
      </p:sp>
      <p:sp>
        <p:nvSpPr>
          <p:cNvPr id="3" name="Text 1"/>
          <p:cNvSpPr/>
          <p:nvPr/>
        </p:nvSpPr>
        <p:spPr>
          <a:xfrm>
            <a:off x="640080" y="777240"/>
            <a:ext cx="10881360" cy="731520"/>
          </a:xfrm>
          <a:prstGeom prst="rect">
            <a:avLst/>
          </a:prstGeom>
          <a:noFill/>
          <a:ln/>
        </p:spPr>
        <p:txBody>
          <a:bodyPr wrap="square" lIns="0" tIns="0" rIns="0" bIns="0" rtlCol="0" anchor="ctr"/>
          <a:lstStyle/>
          <a:p>
            <a:pPr indent="0" marL="0">
              <a:buNone/>
            </a:pPr>
            <a:r>
              <a:rPr lang="en-US" sz="2700" b="1" dirty="0">
                <a:solidFill>
                  <a:srgbClr val="1B2A36"/>
                </a:solidFill>
                <a:latin typeface="Cambria" pitchFamily="34" charset="0"/>
                <a:ea typeface="Cambria" pitchFamily="34" charset="-122"/>
                <a:cs typeface="Cambria" pitchFamily="34" charset="-120"/>
              </a:rPr>
              <a:t>Riesgos y pendientes abiertos</a:t>
            </a:r>
            <a:endParaRPr lang="en-US" sz="2700" dirty="0"/>
          </a:p>
        </p:txBody>
      </p:sp>
      <p:sp>
        <p:nvSpPr>
          <p:cNvPr id="4" name="Shape 2"/>
          <p:cNvSpPr/>
          <p:nvPr/>
        </p:nvSpPr>
        <p:spPr>
          <a:xfrm>
            <a:off x="640080" y="1783080"/>
            <a:ext cx="457200" cy="457200"/>
          </a:xfrm>
          <a:prstGeom prst="ellipse">
            <a:avLst/>
          </a:prstGeom>
          <a:solidFill>
            <a:srgbClr val="F5F3EE"/>
          </a:solidFill>
          <a:ln/>
        </p:spPr>
      </p:sp>
      <p:pic>
        <p:nvPicPr>
          <p:cNvPr id="5" name="Image 0" descr="/home/claude/pptx_kit/icons/alert__accent.png">    </p:cNvPr>
          <p:cNvPicPr>
            <a:picLocks noChangeAspect="1"/>
          </p:cNvPicPr>
          <p:nvPr/>
        </p:nvPicPr>
        <p:blipFill>
          <a:blip r:embed="rId1"/>
          <a:stretch>
            <a:fillRect/>
          </a:stretch>
        </p:blipFill>
        <p:spPr>
          <a:xfrm>
            <a:off x="740664" y="1883664"/>
            <a:ext cx="256032" cy="256032"/>
          </a:xfrm>
          <a:prstGeom prst="rect">
            <a:avLst/>
          </a:prstGeom>
        </p:spPr>
      </p:pic>
      <p:sp>
        <p:nvSpPr>
          <p:cNvPr id="6" name="Text 3"/>
          <p:cNvSpPr/>
          <p:nvPr/>
        </p:nvSpPr>
        <p:spPr>
          <a:xfrm>
            <a:off x="1261872" y="1746504"/>
            <a:ext cx="9985248" cy="310896"/>
          </a:xfrm>
          <a:prstGeom prst="rect">
            <a:avLst/>
          </a:prstGeom>
          <a:noFill/>
          <a:ln/>
        </p:spPr>
        <p:txBody>
          <a:bodyPr wrap="square" lIns="0" tIns="0" rIns="0" bIns="0" rtlCol="0" anchor="ctr"/>
          <a:lstStyle/>
          <a:p>
            <a:pPr indent="0" marL="0">
              <a:buNone/>
            </a:pPr>
            <a:r>
              <a:rPr lang="en-US" sz="1350" b="1" dirty="0">
                <a:solidFill>
                  <a:srgbClr val="1B2A36"/>
                </a:solidFill>
                <a:latin typeface="Calibri" pitchFamily="34" charset="0"/>
                <a:ea typeface="Calibri" pitchFamily="34" charset="-122"/>
                <a:cs typeface="Calibri" pitchFamily="34" charset="-120"/>
              </a:rPr>
              <a:t>Quiebres de existencia en la categoría de bebidas</a:t>
            </a:r>
            <a:endParaRPr lang="en-US" sz="1350" dirty="0"/>
          </a:p>
        </p:txBody>
      </p:sp>
      <p:sp>
        <p:nvSpPr>
          <p:cNvPr id="7" name="Text 4"/>
          <p:cNvSpPr/>
          <p:nvPr/>
        </p:nvSpPr>
        <p:spPr>
          <a:xfrm>
            <a:off x="1261872" y="2039112"/>
            <a:ext cx="9985248" cy="566928"/>
          </a:xfrm>
          <a:prstGeom prst="rect">
            <a:avLst/>
          </a:prstGeom>
          <a:noFill/>
          <a:ln/>
        </p:spPr>
        <p:txBody>
          <a:bodyPr wrap="square" lIns="0" tIns="0" rIns="0" bIns="0" rtlCol="0" anchor="ctr"/>
          <a:lstStyle/>
          <a:p>
            <a:pPr indent="0" marL="0">
              <a:lnSpc>
                <a:spcPct val="115000"/>
              </a:lnSpc>
              <a:buNone/>
            </a:pPr>
            <a:r>
              <a:rPr lang="en-US" sz="1100" dirty="0">
                <a:solidFill>
                  <a:srgbClr val="6E7C86"/>
                </a:solidFill>
                <a:latin typeface="Calibri" pitchFamily="34" charset="0"/>
                <a:ea typeface="Calibri" pitchFamily="34" charset="-122"/>
                <a:cs typeface="Calibri" pitchFamily="34" charset="-120"/>
              </a:rPr>
              <a:t>Tres tiendas reportaron desabasto recurrente en la última quincena; se estima una venta perdida de $18,400 en el mes.</a:t>
            </a:r>
            <a:endParaRPr lang="en-US" sz="1100" dirty="0"/>
          </a:p>
        </p:txBody>
      </p:sp>
      <p:sp>
        <p:nvSpPr>
          <p:cNvPr id="8" name="Shape 5"/>
          <p:cNvSpPr/>
          <p:nvPr/>
        </p:nvSpPr>
        <p:spPr>
          <a:xfrm>
            <a:off x="640080" y="3017520"/>
            <a:ext cx="457200" cy="457200"/>
          </a:xfrm>
          <a:prstGeom prst="ellipse">
            <a:avLst/>
          </a:prstGeom>
          <a:solidFill>
            <a:srgbClr val="F5F3EE"/>
          </a:solidFill>
          <a:ln/>
        </p:spPr>
      </p:sp>
      <p:pic>
        <p:nvPicPr>
          <p:cNvPr id="9" name="Image 1" descr="/home/claude/pptx_kit/icons/clock__accent.png">    </p:cNvPr>
          <p:cNvPicPr>
            <a:picLocks noChangeAspect="1"/>
          </p:cNvPicPr>
          <p:nvPr/>
        </p:nvPicPr>
        <p:blipFill>
          <a:blip r:embed="rId2"/>
          <a:stretch>
            <a:fillRect/>
          </a:stretch>
        </p:blipFill>
        <p:spPr>
          <a:xfrm>
            <a:off x="740664" y="3118104"/>
            <a:ext cx="256032" cy="256032"/>
          </a:xfrm>
          <a:prstGeom prst="rect">
            <a:avLst/>
          </a:prstGeom>
        </p:spPr>
      </p:pic>
      <p:sp>
        <p:nvSpPr>
          <p:cNvPr id="10" name="Text 6"/>
          <p:cNvSpPr/>
          <p:nvPr/>
        </p:nvSpPr>
        <p:spPr>
          <a:xfrm>
            <a:off x="1261872" y="2980944"/>
            <a:ext cx="9985248" cy="310896"/>
          </a:xfrm>
          <a:prstGeom prst="rect">
            <a:avLst/>
          </a:prstGeom>
          <a:noFill/>
          <a:ln/>
        </p:spPr>
        <p:txBody>
          <a:bodyPr wrap="square" lIns="0" tIns="0" rIns="0" bIns="0" rtlCol="0" anchor="ctr"/>
          <a:lstStyle/>
          <a:p>
            <a:pPr indent="0" marL="0">
              <a:buNone/>
            </a:pPr>
            <a:r>
              <a:rPr lang="en-US" sz="1350" b="1" dirty="0">
                <a:solidFill>
                  <a:srgbClr val="1B2A36"/>
                </a:solidFill>
                <a:latin typeface="Calibri" pitchFamily="34" charset="0"/>
                <a:ea typeface="Calibri" pitchFamily="34" charset="-122"/>
                <a:cs typeface="Calibri" pitchFamily="34" charset="-120"/>
              </a:rPr>
              <a:t>Retraso en la apertura de la tienda de Torreón Alameda</a:t>
            </a:r>
            <a:endParaRPr lang="en-US" sz="1350" dirty="0"/>
          </a:p>
        </p:txBody>
      </p:sp>
      <p:sp>
        <p:nvSpPr>
          <p:cNvPr id="11" name="Text 7"/>
          <p:cNvSpPr/>
          <p:nvPr/>
        </p:nvSpPr>
        <p:spPr>
          <a:xfrm>
            <a:off x="1261872" y="3273552"/>
            <a:ext cx="9985248" cy="566928"/>
          </a:xfrm>
          <a:prstGeom prst="rect">
            <a:avLst/>
          </a:prstGeom>
          <a:noFill/>
          <a:ln/>
        </p:spPr>
        <p:txBody>
          <a:bodyPr wrap="square" lIns="0" tIns="0" rIns="0" bIns="0" rtlCol="0" anchor="ctr"/>
          <a:lstStyle/>
          <a:p>
            <a:pPr indent="0" marL="0">
              <a:lnSpc>
                <a:spcPct val="115000"/>
              </a:lnSpc>
              <a:buNone/>
            </a:pPr>
            <a:r>
              <a:rPr lang="en-US" sz="1100" dirty="0">
                <a:solidFill>
                  <a:srgbClr val="6E7C86"/>
                </a:solidFill>
                <a:latin typeface="Calibri" pitchFamily="34" charset="0"/>
                <a:ea typeface="Calibri" pitchFamily="34" charset="-122"/>
                <a:cs typeface="Calibri" pitchFamily="34" charset="-120"/>
              </a:rPr>
              <a:t>La obra civil lleva dos semanas de retraso contra el cronograma original; nueva fecha estimada: segunda semana de agosto.</a:t>
            </a:r>
            <a:endParaRPr lang="en-US" sz="1100" dirty="0"/>
          </a:p>
        </p:txBody>
      </p:sp>
      <p:sp>
        <p:nvSpPr>
          <p:cNvPr id="12" name="Shape 8"/>
          <p:cNvSpPr/>
          <p:nvPr/>
        </p:nvSpPr>
        <p:spPr>
          <a:xfrm>
            <a:off x="640080" y="4251960"/>
            <a:ext cx="457200" cy="457200"/>
          </a:xfrm>
          <a:prstGeom prst="ellipse">
            <a:avLst/>
          </a:prstGeom>
          <a:solidFill>
            <a:srgbClr val="F5F3EE"/>
          </a:solidFill>
          <a:ln/>
        </p:spPr>
      </p:sp>
      <p:pic>
        <p:nvPicPr>
          <p:cNvPr id="13" name="Image 2" descr="/home/claude/pptx_kit/icons/shield__accent.png">    </p:cNvPr>
          <p:cNvPicPr>
            <a:picLocks noChangeAspect="1"/>
          </p:cNvPicPr>
          <p:nvPr/>
        </p:nvPicPr>
        <p:blipFill>
          <a:blip r:embed="rId3"/>
          <a:stretch>
            <a:fillRect/>
          </a:stretch>
        </p:blipFill>
        <p:spPr>
          <a:xfrm>
            <a:off x="740664" y="4352544"/>
            <a:ext cx="256032" cy="256032"/>
          </a:xfrm>
          <a:prstGeom prst="rect">
            <a:avLst/>
          </a:prstGeom>
        </p:spPr>
      </p:pic>
      <p:sp>
        <p:nvSpPr>
          <p:cNvPr id="14" name="Text 9"/>
          <p:cNvSpPr/>
          <p:nvPr/>
        </p:nvSpPr>
        <p:spPr>
          <a:xfrm>
            <a:off x="1261872" y="4215384"/>
            <a:ext cx="9985248" cy="310896"/>
          </a:xfrm>
          <a:prstGeom prst="rect">
            <a:avLst/>
          </a:prstGeom>
          <a:noFill/>
          <a:ln/>
        </p:spPr>
        <p:txBody>
          <a:bodyPr wrap="square" lIns="0" tIns="0" rIns="0" bIns="0" rtlCol="0" anchor="ctr"/>
          <a:lstStyle/>
          <a:p>
            <a:pPr indent="0" marL="0">
              <a:buNone/>
            </a:pPr>
            <a:r>
              <a:rPr lang="en-US" sz="1350" b="1" dirty="0">
                <a:solidFill>
                  <a:srgbClr val="1B2A36"/>
                </a:solidFill>
                <a:latin typeface="Calibri" pitchFamily="34" charset="0"/>
                <a:ea typeface="Calibri" pitchFamily="34" charset="-122"/>
                <a:cs typeface="Calibri" pitchFamily="34" charset="-120"/>
              </a:rPr>
              <a:t>Renovación de contrato con proveedor de bebidas pendiente</a:t>
            </a:r>
            <a:endParaRPr lang="en-US" sz="1350" dirty="0"/>
          </a:p>
        </p:txBody>
      </p:sp>
      <p:sp>
        <p:nvSpPr>
          <p:cNvPr id="15" name="Text 10"/>
          <p:cNvSpPr/>
          <p:nvPr/>
        </p:nvSpPr>
        <p:spPr>
          <a:xfrm>
            <a:off x="1261872" y="4507992"/>
            <a:ext cx="9985248" cy="566928"/>
          </a:xfrm>
          <a:prstGeom prst="rect">
            <a:avLst/>
          </a:prstGeom>
          <a:noFill/>
          <a:ln/>
        </p:spPr>
        <p:txBody>
          <a:bodyPr wrap="square" lIns="0" tIns="0" rIns="0" bIns="0" rtlCol="0" anchor="ctr"/>
          <a:lstStyle/>
          <a:p>
            <a:pPr indent="0" marL="0">
              <a:lnSpc>
                <a:spcPct val="115000"/>
              </a:lnSpc>
              <a:buNone/>
            </a:pPr>
            <a:r>
              <a:rPr lang="en-US" sz="1100" dirty="0">
                <a:solidFill>
                  <a:srgbClr val="6E7C86"/>
                </a:solidFill>
                <a:latin typeface="Calibri" pitchFamily="34" charset="0"/>
                <a:ea typeface="Calibri" pitchFamily="34" charset="-122"/>
                <a:cs typeface="Calibri" pitchFamily="34" charset="-120"/>
              </a:rPr>
              <a:t>Vence el 15 de agosto. Sin renovación a tiempo, hay riesgo de interrupción de suministro en la categoría de mayor venta.</a:t>
            </a:r>
            <a:endParaRPr lang="en-US" sz="1100" dirty="0"/>
          </a:p>
        </p:txBody>
      </p:sp>
      <p:sp>
        <p:nvSpPr>
          <p:cNvPr id="16" name="Text 11"/>
          <p:cNvSpPr/>
          <p:nvPr/>
        </p:nvSpPr>
        <p:spPr>
          <a:xfrm>
            <a:off x="11185855" y="6473952"/>
            <a:ext cx="731520" cy="274320"/>
          </a:xfrm>
          <a:prstGeom prst="rect">
            <a:avLst/>
          </a:prstGeom>
          <a:noFill/>
          <a:ln/>
        </p:spPr>
        <p:txBody>
          <a:bodyPr wrap="square" lIns="0" tIns="0" rIns="0" bIns="0" rtlCol="0" anchor="ctr"/>
          <a:lstStyle/>
          <a:p>
            <a:pPr algn="r" indent="0" marL="0">
              <a:buNone/>
            </a:pPr>
            <a:r>
              <a:rPr lang="en-US" sz="900" dirty="0">
                <a:solidFill>
                  <a:srgbClr val="6E7C86"/>
                </a:solidFill>
                <a:latin typeface="Calibri" pitchFamily="34" charset="0"/>
                <a:ea typeface="Calibri" pitchFamily="34" charset="-122"/>
                <a:cs typeface="Calibri" pitchFamily="34" charset="-120"/>
              </a:rPr>
              <a:t>08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150" b="1" spc="200" kern="0" dirty="0">
                <a:solidFill>
                  <a:srgbClr val="B0611C"/>
                </a:solidFill>
                <a:latin typeface="Calibri" pitchFamily="34" charset="0"/>
                <a:ea typeface="Calibri" pitchFamily="34" charset="-122"/>
                <a:cs typeface="Calibri" pitchFamily="34" charset="-120"/>
              </a:rPr>
              <a:t>PLAN DE ACCIÓN</a:t>
            </a:r>
            <a:endParaRPr lang="en-US" sz="1150" dirty="0"/>
          </a:p>
        </p:txBody>
      </p:sp>
      <p:sp>
        <p:nvSpPr>
          <p:cNvPr id="3" name="Text 1"/>
          <p:cNvSpPr/>
          <p:nvPr/>
        </p:nvSpPr>
        <p:spPr>
          <a:xfrm>
            <a:off x="640080" y="777240"/>
            <a:ext cx="10881360" cy="731520"/>
          </a:xfrm>
          <a:prstGeom prst="rect">
            <a:avLst/>
          </a:prstGeom>
          <a:noFill/>
          <a:ln/>
        </p:spPr>
        <p:txBody>
          <a:bodyPr wrap="square" lIns="0" tIns="0" rIns="0" bIns="0" rtlCol="0" anchor="ctr"/>
          <a:lstStyle/>
          <a:p>
            <a:pPr indent="0" marL="0">
              <a:buNone/>
            </a:pPr>
            <a:r>
              <a:rPr lang="en-US" sz="2700" b="1" dirty="0">
                <a:solidFill>
                  <a:srgbClr val="1B2A36"/>
                </a:solidFill>
                <a:latin typeface="Cambria" pitchFamily="34" charset="0"/>
                <a:ea typeface="Cambria" pitchFamily="34" charset="-122"/>
                <a:cs typeface="Cambria" pitchFamily="34" charset="-120"/>
              </a:rPr>
              <a:t>Próximos pasos para agosto</a:t>
            </a:r>
            <a:endParaRPr lang="en-US" sz="2700" dirty="0"/>
          </a:p>
        </p:txBody>
      </p:sp>
      <p:sp>
        <p:nvSpPr>
          <p:cNvPr id="4" name="Shape 2"/>
          <p:cNvSpPr/>
          <p:nvPr/>
        </p:nvSpPr>
        <p:spPr>
          <a:xfrm>
            <a:off x="640080" y="1783080"/>
            <a:ext cx="2542032" cy="2834640"/>
          </a:xfrm>
          <a:prstGeom prst="roundRect">
            <a:avLst>
              <a:gd name="adj" fmla="val 2158"/>
            </a:avLst>
          </a:prstGeom>
          <a:solidFill>
            <a:srgbClr val="F5F3EE"/>
          </a:solidFill>
          <a:ln/>
        </p:spPr>
      </p:sp>
      <p:sp>
        <p:nvSpPr>
          <p:cNvPr id="5" name="Shape 3"/>
          <p:cNvSpPr/>
          <p:nvPr/>
        </p:nvSpPr>
        <p:spPr>
          <a:xfrm>
            <a:off x="841248" y="1984248"/>
            <a:ext cx="420624" cy="420624"/>
          </a:xfrm>
          <a:prstGeom prst="ellipse">
            <a:avLst/>
          </a:prstGeom>
          <a:solidFill>
            <a:srgbClr val="B0611C"/>
          </a:solidFill>
          <a:ln/>
        </p:spPr>
      </p:sp>
      <p:sp>
        <p:nvSpPr>
          <p:cNvPr id="6" name="Text 4"/>
          <p:cNvSpPr/>
          <p:nvPr/>
        </p:nvSpPr>
        <p:spPr>
          <a:xfrm>
            <a:off x="841248" y="19842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1947672"/>
            <a:ext cx="1581912" cy="457200"/>
          </a:xfrm>
          <a:prstGeom prst="rect">
            <a:avLst/>
          </a:prstGeom>
          <a:noFill/>
          <a:ln/>
        </p:spPr>
        <p:txBody>
          <a:bodyPr wrap="square" lIns="0" tIns="0" rIns="0" bIns="0" rtlCol="0" anchor="t"/>
          <a:lstStyle/>
          <a:p>
            <a:pPr indent="0" marL="0">
              <a:buNone/>
            </a:pPr>
            <a:r>
              <a:rPr lang="en-US" sz="1250" b="1" dirty="0">
                <a:solidFill>
                  <a:srgbClr val="1B2A36"/>
                </a:solidFill>
                <a:latin typeface="Calibri" pitchFamily="34" charset="0"/>
                <a:ea typeface="Calibri" pitchFamily="34" charset="-122"/>
                <a:cs typeface="Calibri" pitchFamily="34" charset="-120"/>
              </a:rPr>
              <a:t>Auditoría de resurtido</a:t>
            </a:r>
            <a:endParaRPr lang="en-US" sz="1250" dirty="0"/>
          </a:p>
        </p:txBody>
      </p:sp>
      <p:sp>
        <p:nvSpPr>
          <p:cNvPr id="8" name="Text 6"/>
          <p:cNvSpPr/>
          <p:nvPr/>
        </p:nvSpPr>
        <p:spPr>
          <a:xfrm>
            <a:off x="841248" y="2514600"/>
            <a:ext cx="2139696" cy="1938528"/>
          </a:xfrm>
          <a:prstGeom prst="rect">
            <a:avLst/>
          </a:prstGeom>
          <a:noFill/>
          <a:ln/>
        </p:spPr>
        <p:txBody>
          <a:bodyPr wrap="square" lIns="0" tIns="0" rIns="0" bIns="0" rtlCol="0" anchor="ctr"/>
          <a:lstStyle/>
          <a:p>
            <a:pPr indent="0" marL="0">
              <a:lnSpc>
                <a:spcPct val="118000"/>
              </a:lnSpc>
              <a:buNone/>
            </a:pPr>
            <a:r>
              <a:rPr lang="en-US" sz="1050" dirty="0">
                <a:solidFill>
                  <a:srgbClr val="6E7C86"/>
                </a:solidFill>
                <a:latin typeface="Calibri" pitchFamily="34" charset="0"/>
                <a:ea typeface="Calibri" pitchFamily="34" charset="-122"/>
                <a:cs typeface="Calibri" pitchFamily="34" charset="-120"/>
              </a:rPr>
              <a:t>Revisar el proceso de reabasto en las tres tiendas con quiebre de bebidas antes del 8 de agosto.</a:t>
            </a:r>
            <a:endParaRPr lang="en-US" sz="1050" dirty="0"/>
          </a:p>
        </p:txBody>
      </p:sp>
      <p:sp>
        <p:nvSpPr>
          <p:cNvPr id="9" name="Shape 7"/>
          <p:cNvSpPr/>
          <p:nvPr/>
        </p:nvSpPr>
        <p:spPr>
          <a:xfrm>
            <a:off x="3438144" y="1783080"/>
            <a:ext cx="2542032" cy="2834640"/>
          </a:xfrm>
          <a:prstGeom prst="roundRect">
            <a:avLst>
              <a:gd name="adj" fmla="val 2158"/>
            </a:avLst>
          </a:prstGeom>
          <a:solidFill>
            <a:srgbClr val="F5F3EE"/>
          </a:solidFill>
          <a:ln/>
        </p:spPr>
      </p:sp>
      <p:sp>
        <p:nvSpPr>
          <p:cNvPr id="10" name="Shape 8"/>
          <p:cNvSpPr/>
          <p:nvPr/>
        </p:nvSpPr>
        <p:spPr>
          <a:xfrm>
            <a:off x="3639312" y="1984248"/>
            <a:ext cx="420624" cy="420624"/>
          </a:xfrm>
          <a:prstGeom prst="ellipse">
            <a:avLst/>
          </a:prstGeom>
          <a:solidFill>
            <a:srgbClr val="B0611C"/>
          </a:solidFill>
          <a:ln/>
        </p:spPr>
      </p:sp>
      <p:sp>
        <p:nvSpPr>
          <p:cNvPr id="11" name="Text 9"/>
          <p:cNvSpPr/>
          <p:nvPr/>
        </p:nvSpPr>
        <p:spPr>
          <a:xfrm>
            <a:off x="3639312" y="19842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4215384" y="1947672"/>
            <a:ext cx="1581912" cy="457200"/>
          </a:xfrm>
          <a:prstGeom prst="rect">
            <a:avLst/>
          </a:prstGeom>
          <a:noFill/>
          <a:ln/>
        </p:spPr>
        <p:txBody>
          <a:bodyPr wrap="square" lIns="0" tIns="0" rIns="0" bIns="0" rtlCol="0" anchor="t"/>
          <a:lstStyle/>
          <a:p>
            <a:pPr indent="0" marL="0">
              <a:buNone/>
            </a:pPr>
            <a:r>
              <a:rPr lang="en-US" sz="1250" b="1" dirty="0">
                <a:solidFill>
                  <a:srgbClr val="1B2A36"/>
                </a:solidFill>
                <a:latin typeface="Calibri" pitchFamily="34" charset="0"/>
                <a:ea typeface="Calibri" pitchFamily="34" charset="-122"/>
                <a:cs typeface="Calibri" pitchFamily="34" charset="-120"/>
              </a:rPr>
              <a:t>Plan de recuperación</a:t>
            </a:r>
            <a:endParaRPr lang="en-US" sz="1250" dirty="0"/>
          </a:p>
        </p:txBody>
      </p:sp>
      <p:sp>
        <p:nvSpPr>
          <p:cNvPr id="13" name="Text 11"/>
          <p:cNvSpPr/>
          <p:nvPr/>
        </p:nvSpPr>
        <p:spPr>
          <a:xfrm>
            <a:off x="3639312" y="2514600"/>
            <a:ext cx="2139696" cy="1938528"/>
          </a:xfrm>
          <a:prstGeom prst="rect">
            <a:avLst/>
          </a:prstGeom>
          <a:noFill/>
          <a:ln/>
        </p:spPr>
        <p:txBody>
          <a:bodyPr wrap="square" lIns="0" tIns="0" rIns="0" bIns="0" rtlCol="0" anchor="ctr"/>
          <a:lstStyle/>
          <a:p>
            <a:pPr indent="0" marL="0">
              <a:lnSpc>
                <a:spcPct val="118000"/>
              </a:lnSpc>
              <a:buNone/>
            </a:pPr>
            <a:r>
              <a:rPr lang="en-US" sz="1050" dirty="0">
                <a:solidFill>
                  <a:srgbClr val="6E7C86"/>
                </a:solidFill>
                <a:latin typeface="Calibri" pitchFamily="34" charset="0"/>
                <a:ea typeface="Calibri" pitchFamily="34" charset="-122"/>
                <a:cs typeface="Calibri" pitchFamily="34" charset="-120"/>
              </a:rPr>
              <a:t>Visita operativa a Santa Catarina Sur y Nogalar, con plan de acción a 30 días.</a:t>
            </a:r>
            <a:endParaRPr lang="en-US" sz="1050" dirty="0"/>
          </a:p>
        </p:txBody>
      </p:sp>
      <p:sp>
        <p:nvSpPr>
          <p:cNvPr id="14" name="Shape 12"/>
          <p:cNvSpPr/>
          <p:nvPr/>
        </p:nvSpPr>
        <p:spPr>
          <a:xfrm>
            <a:off x="6236208" y="1783080"/>
            <a:ext cx="2542032" cy="2834640"/>
          </a:xfrm>
          <a:prstGeom prst="roundRect">
            <a:avLst>
              <a:gd name="adj" fmla="val 2158"/>
            </a:avLst>
          </a:prstGeom>
          <a:solidFill>
            <a:srgbClr val="F5F3EE"/>
          </a:solidFill>
          <a:ln/>
        </p:spPr>
      </p:sp>
      <p:sp>
        <p:nvSpPr>
          <p:cNvPr id="15" name="Shape 13"/>
          <p:cNvSpPr/>
          <p:nvPr/>
        </p:nvSpPr>
        <p:spPr>
          <a:xfrm>
            <a:off x="6437376" y="1984248"/>
            <a:ext cx="420624" cy="420624"/>
          </a:xfrm>
          <a:prstGeom prst="ellipse">
            <a:avLst/>
          </a:prstGeom>
          <a:solidFill>
            <a:srgbClr val="B0611C"/>
          </a:solidFill>
          <a:ln/>
        </p:spPr>
      </p:sp>
      <p:sp>
        <p:nvSpPr>
          <p:cNvPr id="16" name="Text 14"/>
          <p:cNvSpPr/>
          <p:nvPr/>
        </p:nvSpPr>
        <p:spPr>
          <a:xfrm>
            <a:off x="6437376" y="19842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7013448" y="1947672"/>
            <a:ext cx="1581912" cy="457200"/>
          </a:xfrm>
          <a:prstGeom prst="rect">
            <a:avLst/>
          </a:prstGeom>
          <a:noFill/>
          <a:ln/>
        </p:spPr>
        <p:txBody>
          <a:bodyPr wrap="square" lIns="0" tIns="0" rIns="0" bIns="0" rtlCol="0" anchor="t"/>
          <a:lstStyle/>
          <a:p>
            <a:pPr indent="0" marL="0">
              <a:buNone/>
            </a:pPr>
            <a:r>
              <a:rPr lang="en-US" sz="1250" b="1" dirty="0">
                <a:solidFill>
                  <a:srgbClr val="1B2A36"/>
                </a:solidFill>
                <a:latin typeface="Calibri" pitchFamily="34" charset="0"/>
                <a:ea typeface="Calibri" pitchFamily="34" charset="-122"/>
                <a:cs typeface="Calibri" pitchFamily="34" charset="-120"/>
              </a:rPr>
              <a:t>Cierre de contrato</a:t>
            </a:r>
            <a:endParaRPr lang="en-US" sz="1250" dirty="0"/>
          </a:p>
        </p:txBody>
      </p:sp>
      <p:sp>
        <p:nvSpPr>
          <p:cNvPr id="18" name="Text 16"/>
          <p:cNvSpPr/>
          <p:nvPr/>
        </p:nvSpPr>
        <p:spPr>
          <a:xfrm>
            <a:off x="6437376" y="2514600"/>
            <a:ext cx="2139696" cy="1938528"/>
          </a:xfrm>
          <a:prstGeom prst="rect">
            <a:avLst/>
          </a:prstGeom>
          <a:noFill/>
          <a:ln/>
        </p:spPr>
        <p:txBody>
          <a:bodyPr wrap="square" lIns="0" tIns="0" rIns="0" bIns="0" rtlCol="0" anchor="ctr"/>
          <a:lstStyle/>
          <a:p>
            <a:pPr indent="0" marL="0">
              <a:lnSpc>
                <a:spcPct val="118000"/>
              </a:lnSpc>
              <a:buNone/>
            </a:pPr>
            <a:r>
              <a:rPr lang="en-US" sz="1050" dirty="0">
                <a:solidFill>
                  <a:srgbClr val="6E7C86"/>
                </a:solidFill>
                <a:latin typeface="Calibri" pitchFamily="34" charset="0"/>
                <a:ea typeface="Calibri" pitchFamily="34" charset="-122"/>
                <a:cs typeface="Calibri" pitchFamily="34" charset="-120"/>
              </a:rPr>
              <a:t>Finalizar negociación con el proveedor de bebidas antes del vencimiento del 15 de agosto.</a:t>
            </a:r>
            <a:endParaRPr lang="en-US" sz="1050" dirty="0"/>
          </a:p>
        </p:txBody>
      </p:sp>
      <p:sp>
        <p:nvSpPr>
          <p:cNvPr id="19" name="Shape 17"/>
          <p:cNvSpPr/>
          <p:nvPr/>
        </p:nvSpPr>
        <p:spPr>
          <a:xfrm>
            <a:off x="9034272" y="1783080"/>
            <a:ext cx="2542032" cy="2834640"/>
          </a:xfrm>
          <a:prstGeom prst="roundRect">
            <a:avLst>
              <a:gd name="adj" fmla="val 2158"/>
            </a:avLst>
          </a:prstGeom>
          <a:solidFill>
            <a:srgbClr val="F5F3EE"/>
          </a:solidFill>
          <a:ln/>
        </p:spPr>
      </p:sp>
      <p:sp>
        <p:nvSpPr>
          <p:cNvPr id="20" name="Shape 18"/>
          <p:cNvSpPr/>
          <p:nvPr/>
        </p:nvSpPr>
        <p:spPr>
          <a:xfrm>
            <a:off x="9235440" y="1984248"/>
            <a:ext cx="420624" cy="420624"/>
          </a:xfrm>
          <a:prstGeom prst="ellipse">
            <a:avLst/>
          </a:prstGeom>
          <a:solidFill>
            <a:srgbClr val="B0611C"/>
          </a:solidFill>
          <a:ln/>
        </p:spPr>
      </p:sp>
      <p:sp>
        <p:nvSpPr>
          <p:cNvPr id="21" name="Text 19"/>
          <p:cNvSpPr/>
          <p:nvPr/>
        </p:nvSpPr>
        <p:spPr>
          <a:xfrm>
            <a:off x="9235440" y="19842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9811512" y="1947672"/>
            <a:ext cx="1581912" cy="457200"/>
          </a:xfrm>
          <a:prstGeom prst="rect">
            <a:avLst/>
          </a:prstGeom>
          <a:noFill/>
          <a:ln/>
        </p:spPr>
        <p:txBody>
          <a:bodyPr wrap="square" lIns="0" tIns="0" rIns="0" bIns="0" rtlCol="0" anchor="t"/>
          <a:lstStyle/>
          <a:p>
            <a:pPr indent="0" marL="0">
              <a:buNone/>
            </a:pPr>
            <a:r>
              <a:rPr lang="en-US" sz="1250" b="1" dirty="0">
                <a:solidFill>
                  <a:srgbClr val="1B2A36"/>
                </a:solidFill>
                <a:latin typeface="Calibri" pitchFamily="34" charset="0"/>
                <a:ea typeface="Calibri" pitchFamily="34" charset="-122"/>
                <a:cs typeface="Calibri" pitchFamily="34" charset="-120"/>
              </a:rPr>
              <a:t>Seguimiento de apertura</a:t>
            </a:r>
            <a:endParaRPr lang="en-US" sz="1250" dirty="0"/>
          </a:p>
        </p:txBody>
      </p:sp>
      <p:sp>
        <p:nvSpPr>
          <p:cNvPr id="23" name="Text 21"/>
          <p:cNvSpPr/>
          <p:nvPr/>
        </p:nvSpPr>
        <p:spPr>
          <a:xfrm>
            <a:off x="9235440" y="2514600"/>
            <a:ext cx="2139696" cy="1938528"/>
          </a:xfrm>
          <a:prstGeom prst="rect">
            <a:avLst/>
          </a:prstGeom>
          <a:noFill/>
          <a:ln/>
        </p:spPr>
        <p:txBody>
          <a:bodyPr wrap="square" lIns="0" tIns="0" rIns="0" bIns="0" rtlCol="0" anchor="ctr"/>
          <a:lstStyle/>
          <a:p>
            <a:pPr indent="0" marL="0">
              <a:lnSpc>
                <a:spcPct val="118000"/>
              </a:lnSpc>
              <a:buNone/>
            </a:pPr>
            <a:r>
              <a:rPr lang="en-US" sz="1050" dirty="0">
                <a:solidFill>
                  <a:srgbClr val="6E7C86"/>
                </a:solidFill>
                <a:latin typeface="Calibri" pitchFamily="34" charset="0"/>
                <a:ea typeface="Calibri" pitchFamily="34" charset="-122"/>
                <a:cs typeface="Calibri" pitchFamily="34" charset="-120"/>
              </a:rPr>
              <a:t>Confirmar nueva fecha de apertura de Torreón Alameda con el equipo de obra.</a:t>
            </a:r>
            <a:endParaRPr lang="en-US" sz="1050" dirty="0"/>
          </a:p>
        </p:txBody>
      </p:sp>
      <p:sp>
        <p:nvSpPr>
          <p:cNvPr id="24" name="Text 22"/>
          <p:cNvSpPr/>
          <p:nvPr/>
        </p:nvSpPr>
        <p:spPr>
          <a:xfrm>
            <a:off x="11185855" y="6473952"/>
            <a:ext cx="731520" cy="274320"/>
          </a:xfrm>
          <a:prstGeom prst="rect">
            <a:avLst/>
          </a:prstGeom>
          <a:noFill/>
          <a:ln/>
        </p:spPr>
        <p:txBody>
          <a:bodyPr wrap="square" lIns="0" tIns="0" rIns="0" bIns="0" rtlCol="0" anchor="ctr"/>
          <a:lstStyle/>
          <a:p>
            <a:pPr algn="r" indent="0" marL="0">
              <a:buNone/>
            </a:pPr>
            <a:r>
              <a:rPr lang="en-US" sz="900" dirty="0">
                <a:solidFill>
                  <a:srgbClr val="6E7C86"/>
                </a:solidFill>
                <a:latin typeface="Calibri" pitchFamily="34" charset="0"/>
                <a:ea typeface="Calibri" pitchFamily="34" charset="-122"/>
                <a:cs typeface="Calibri" pitchFamily="34" charset="-120"/>
              </a:rPr>
              <a:t>09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36"/>
        </a:solidFill>
      </p:bgPr>
    </p:bg>
    <p:spTree>
      <p:nvGrpSpPr>
        <p:cNvPr id="1" name=""/>
        <p:cNvGrpSpPr/>
        <p:nvPr/>
      </p:nvGrpSpPr>
      <p:grpSpPr>
        <a:xfrm>
          <a:off x="0" y="0"/>
          <a:ext cx="0" cy="0"/>
          <a:chOff x="0" y="0"/>
          <a:chExt cx="0" cy="0"/>
        </a:xfrm>
      </p:grpSpPr>
      <p:sp>
        <p:nvSpPr>
          <p:cNvPr id="2" name="Shape 0"/>
          <p:cNvSpPr/>
          <p:nvPr/>
        </p:nvSpPr>
        <p:spPr>
          <a:xfrm>
            <a:off x="2804008" y="1920240"/>
            <a:ext cx="6583680" cy="6583680"/>
          </a:xfrm>
          <a:prstGeom prst="ellipse">
            <a:avLst/>
          </a:prstGeom>
          <a:solidFill>
            <a:srgbClr val="2E4150"/>
          </a:solidFill>
          <a:ln/>
        </p:spPr>
      </p:sp>
      <p:sp>
        <p:nvSpPr>
          <p:cNvPr id="3" name="Text 1"/>
          <p:cNvSpPr/>
          <p:nvPr/>
        </p:nvSpPr>
        <p:spPr>
          <a:xfrm>
            <a:off x="0" y="2331720"/>
            <a:ext cx="12191695"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Gracias</a:t>
            </a:r>
            <a:endParaRPr lang="en-US" sz="3600" dirty="0"/>
          </a:p>
        </p:txBody>
      </p:sp>
      <p:sp>
        <p:nvSpPr>
          <p:cNvPr id="4" name="Text 2"/>
          <p:cNvSpPr/>
          <p:nvPr/>
        </p:nvSpPr>
        <p:spPr>
          <a:xfrm>
            <a:off x="2255368" y="3246120"/>
            <a:ext cx="7680960" cy="640080"/>
          </a:xfrm>
          <a:prstGeom prst="rect">
            <a:avLst/>
          </a:prstGeom>
          <a:noFill/>
          <a:ln/>
        </p:spPr>
        <p:txBody>
          <a:bodyPr wrap="square" lIns="0" tIns="0" rIns="0" bIns="0" rtlCol="0" anchor="ctr"/>
          <a:lstStyle/>
          <a:p>
            <a:pPr algn="ctr" indent="0" marL="0">
              <a:buNone/>
            </a:pPr>
            <a:r>
              <a:rPr lang="en-US" sz="1400" i="1" dirty="0">
                <a:solidFill>
                  <a:srgbClr val="C6CFD5"/>
                </a:solidFill>
                <a:latin typeface="Calibri" pitchFamily="34" charset="0"/>
                <a:ea typeface="Calibri" pitchFamily="34" charset="-122"/>
                <a:cs typeface="Calibri" pitchFamily="34" charset="-120"/>
              </a:rPr>
              <a:t>Preguntas y comentarios · [correo@tuempresa.com]</a:t>
            </a:r>
            <a:endParaRPr lang="en-US" sz="1400" dirty="0"/>
          </a:p>
        </p:txBody>
      </p:sp>
      <p:sp>
        <p:nvSpPr>
          <p:cNvPr id="5" name="Text 3"/>
          <p:cNvSpPr/>
          <p:nvPr/>
        </p:nvSpPr>
        <p:spPr>
          <a:xfrm>
            <a:off x="0" y="6080760"/>
            <a:ext cx="12191695" cy="365760"/>
          </a:xfrm>
          <a:prstGeom prst="rect">
            <a:avLst/>
          </a:prstGeom>
          <a:noFill/>
          <a:ln/>
        </p:spPr>
        <p:txBody>
          <a:bodyPr wrap="square" lIns="0" tIns="0" rIns="0" bIns="0" rtlCol="0" anchor="ctr"/>
          <a:lstStyle/>
          <a:p>
            <a:pPr algn="ctr" indent="0" marL="0">
              <a:buNone/>
            </a:pPr>
            <a:r>
              <a:rPr lang="en-US" sz="1000" dirty="0">
                <a:solidFill>
                  <a:srgbClr val="C6CFD5"/>
                </a:solidFill>
                <a:latin typeface="Calibri" pitchFamily="34" charset="0"/>
                <a:ea typeface="Calibri" pitchFamily="34" charset="-122"/>
                <a:cs typeface="Calibri" pitchFamily="34" charset="-120"/>
              </a:rPr>
              <a:t>Plantilla del Pack de Presentaciones de Resultados · jesus-site-silk.vercel.app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 Mensual de Resultados</dc:title>
  <dc:subject>PptxGenJS Presentation</dc:subject>
  <dc:creator>Jesús González</dc:creator>
  <cp:lastModifiedBy>Jesús González</cp:lastModifiedBy>
  <cp:revision>1</cp:revision>
  <dcterms:created xsi:type="dcterms:W3CDTF">2026-08-01T04:18:23Z</dcterms:created>
  <dcterms:modified xsi:type="dcterms:W3CDTF">2026-08-01T04:18:23Z</dcterms:modified>
</cp:coreProperties>
</file>